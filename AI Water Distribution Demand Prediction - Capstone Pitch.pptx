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17428D7-2F3F-4AFC-AB9D-CC38DCFD6665}"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5320" cy="3085200"/>
          </a:xfrm>
          <a:prstGeom prst="rect">
            <a:avLst/>
          </a:prstGeom>
          <a:ln w="0">
            <a:noFill/>
          </a:ln>
        </p:spPr>
      </p:sp>
      <p:sp>
        <p:nvSpPr>
          <p:cNvPr id="18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5"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45C06D3-1562-4545-BEE9-BB21B9DBE2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5320" cy="3085200"/>
          </a:xfrm>
          <a:prstGeom prst="rect">
            <a:avLst/>
          </a:prstGeom>
          <a:ln w="0">
            <a:noFill/>
          </a:ln>
        </p:spPr>
      </p:sp>
      <p:sp>
        <p:nvSpPr>
          <p:cNvPr id="1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8"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F03E7E-E37C-454B-A8A3-23384E20784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5320" cy="3085200"/>
          </a:xfrm>
          <a:prstGeom prst="rect">
            <a:avLst/>
          </a:prstGeom>
          <a:ln w="0">
            <a:noFill/>
          </a:ln>
        </p:spPr>
      </p:sp>
      <p:sp>
        <p:nvSpPr>
          <p:cNvPr id="1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1"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6BBA1D-5419-4623-ABD9-8E1FFF56F58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5320" cy="3085200"/>
          </a:xfrm>
          <a:prstGeom prst="rect">
            <a:avLst/>
          </a:prstGeom>
          <a:ln w="0">
            <a:noFill/>
          </a:ln>
        </p:spPr>
      </p:sp>
      <p:sp>
        <p:nvSpPr>
          <p:cNvPr id="19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4"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E08A504-0205-47FE-B54C-3453EBB48F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5320" cy="3085200"/>
          </a:xfrm>
          <a:prstGeom prst="rect">
            <a:avLst/>
          </a:prstGeom>
          <a:ln w="0">
            <a:noFill/>
          </a:ln>
        </p:spPr>
      </p:sp>
      <p:sp>
        <p:nvSpPr>
          <p:cNvPr id="19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7"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C89687-5A4B-437C-93CC-4E2B8B37845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85800" y="1143000"/>
            <a:ext cx="5485320" cy="3085200"/>
          </a:xfrm>
          <a:prstGeom prst="rect">
            <a:avLst/>
          </a:prstGeom>
          <a:ln w="0">
            <a:noFill/>
          </a:ln>
        </p:spPr>
      </p:sp>
      <p:sp>
        <p:nvSpPr>
          <p:cNvPr id="1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0"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084BE3-2B0A-4C46-BD2C-12C00C2A215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85800" y="1143000"/>
            <a:ext cx="5485320" cy="3085200"/>
          </a:xfrm>
          <a:prstGeom prst="rect">
            <a:avLst/>
          </a:prstGeom>
          <a:ln w="0">
            <a:noFill/>
          </a:ln>
        </p:spPr>
      </p:sp>
      <p:sp>
        <p:nvSpPr>
          <p:cNvPr id="20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3"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A106D3C-3E43-4996-BE9E-AE41291BB20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685800" y="1143000"/>
            <a:ext cx="5485320" cy="3085200"/>
          </a:xfrm>
          <a:prstGeom prst="rect">
            <a:avLst/>
          </a:prstGeom>
          <a:ln w="0">
            <a:noFill/>
          </a:ln>
        </p:spPr>
      </p:sp>
      <p:sp>
        <p:nvSpPr>
          <p:cNvPr id="2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6"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9714AC-2F53-448B-B4BE-0AE861C517C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685800" y="1143000"/>
            <a:ext cx="5485320" cy="3085200"/>
          </a:xfrm>
          <a:prstGeom prst="rect">
            <a:avLst/>
          </a:prstGeom>
          <a:ln w="0">
            <a:noFill/>
          </a:ln>
        </p:spPr>
      </p:sp>
      <p:sp>
        <p:nvSpPr>
          <p:cNvPr id="2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9"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D454AA-F893-40B5-84BD-ACC959AA748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685800" y="1143000"/>
            <a:ext cx="5485320" cy="3085200"/>
          </a:xfrm>
          <a:prstGeom prst="rect">
            <a:avLst/>
          </a:prstGeom>
          <a:ln w="0">
            <a:noFill/>
          </a:ln>
        </p:spPr>
      </p:sp>
      <p:sp>
        <p:nvSpPr>
          <p:cNvPr id="21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12"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AD57E5A-BC6C-4AD8-9618-E5529FC0B3D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295C"/>
        </a:solidFill>
      </p:bgPr>
    </p:bg>
    <p:spTree>
      <p:nvGrpSpPr>
        <p:cNvPr id="1" name=""/>
        <p:cNvGrpSpPr/>
        <p:nvPr/>
      </p:nvGrpSpPr>
      <p:grpSpPr>
        <a:xfrm>
          <a:off x="0" y="0"/>
          <a:ext cx="0" cy="0"/>
          <a:chOff x="0" y="0"/>
          <a:chExt cx="0" cy="0"/>
        </a:xfrm>
      </p:grpSpPr>
      <p:sp>
        <p:nvSpPr>
          <p:cNvPr id="10" name="Shape 0"/>
          <p:cNvSpPr/>
          <p:nvPr/>
        </p:nvSpPr>
        <p:spPr>
          <a:xfrm>
            <a:off x="9692640" y="-1097280"/>
            <a:ext cx="4113720" cy="4113720"/>
          </a:xfrm>
          <a:prstGeom prst="ellipse">
            <a:avLst/>
          </a:prstGeom>
          <a:solidFill>
            <a:srgbClr val="065A82">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10698480" y="4206240"/>
            <a:ext cx="2376360" cy="2376360"/>
          </a:xfrm>
          <a:prstGeom prst="ellipse">
            <a:avLst/>
          </a:prstGeom>
          <a:solidFill>
            <a:srgbClr val="1C7293">
              <a:alpha val="6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1188720" y="4846320"/>
            <a:ext cx="3107880" cy="3107880"/>
          </a:xfrm>
          <a:prstGeom prst="ellipse">
            <a:avLst/>
          </a:prstGeom>
          <a:solidFill>
            <a:srgbClr val="1C7293">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Text 3"/>
          <p:cNvSpPr/>
          <p:nvPr/>
        </p:nvSpPr>
        <p:spPr>
          <a:xfrm>
            <a:off x="822960" y="196596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300" strike="noStrike">
                <a:solidFill>
                  <a:srgbClr val="8FC1D9"/>
                </a:solidFill>
                <a:effectLst/>
                <a:uFillTx/>
                <a:latin typeface="Calibri"/>
                <a:ea typeface="Calibri"/>
              </a:rPr>
              <a:t>CAPSTONE PROJECT PITCH</a:t>
            </a:r>
            <a:endParaRPr lang="en-US" sz="1400" b="0" u="none" strike="noStrike">
              <a:solidFill>
                <a:srgbClr val="FFFFFF"/>
              </a:solidFill>
              <a:effectLst/>
              <a:uFillTx/>
              <a:latin typeface="Arial"/>
            </a:endParaRPr>
          </a:p>
        </p:txBody>
      </p:sp>
      <p:sp>
        <p:nvSpPr>
          <p:cNvPr id="14" name="Text 4"/>
          <p:cNvSpPr/>
          <p:nvPr/>
        </p:nvSpPr>
        <p:spPr>
          <a:xfrm>
            <a:off x="777240" y="2377440"/>
            <a:ext cx="9600120" cy="19191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4000" b="1" u="none" strike="noStrike">
                <a:solidFill>
                  <a:srgbClr val="FFFFFF"/>
                </a:solidFill>
                <a:effectLst/>
                <a:uFillTx/>
                <a:latin typeface="Cambria"/>
                <a:ea typeface="Cambria"/>
              </a:rPr>
              <a:t>AI-Based Water Distribution</a:t>
            </a:r>
            <a:endParaRPr lang="en-US" sz="4000" b="0" u="none" strike="noStrike">
              <a:solidFill>
                <a:srgbClr val="FFFFFF"/>
              </a:solidFill>
              <a:effectLst/>
              <a:uFillTx/>
              <a:latin typeface="Arial"/>
            </a:endParaRPr>
          </a:p>
          <a:p>
            <a:pPr defTabSz="914400">
              <a:lnSpc>
                <a:spcPct val="105000"/>
              </a:lnSpc>
              <a:tabLst>
                <a:tab pos="0" algn="l"/>
              </a:tabLst>
            </a:pPr>
            <a:r>
              <a:rPr lang="en-US" sz="4000" b="1" u="none" strike="noStrike">
                <a:solidFill>
                  <a:srgbClr val="FFFFFF"/>
                </a:solidFill>
                <a:effectLst/>
                <a:uFillTx/>
                <a:latin typeface="Cambria"/>
                <a:ea typeface="Cambria"/>
              </a:rPr>
              <a:t>Demand Prediction System</a:t>
            </a:r>
            <a:endParaRPr lang="en-US" sz="4000" b="0" u="none" strike="noStrike">
              <a:solidFill>
                <a:srgbClr val="FFFFFF"/>
              </a:solidFill>
              <a:effectLst/>
              <a:uFillTx/>
              <a:latin typeface="Arial"/>
            </a:endParaRPr>
          </a:p>
        </p:txBody>
      </p:sp>
      <p:sp>
        <p:nvSpPr>
          <p:cNvPr id="15" name="Text 5"/>
          <p:cNvSpPr/>
          <p:nvPr/>
        </p:nvSpPr>
        <p:spPr>
          <a:xfrm>
            <a:off x="822960" y="4343400"/>
            <a:ext cx="758844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E8F1F5"/>
                </a:solidFill>
                <a:effectLst/>
                <a:uFillTx/>
                <a:latin typeface="Calibri"/>
                <a:ea typeface="Calibri"/>
              </a:rPr>
              <a:t>Forecasting urban water demand by zone to support smarter, shortage-resistant distribution planning.</a:t>
            </a:r>
            <a:endParaRPr lang="en-US" sz="1500" b="0" u="none" strike="noStrike">
              <a:solidFill>
                <a:srgbClr val="FFFFFF"/>
              </a:solidFill>
              <a:effectLst/>
              <a:uFillTx/>
              <a:latin typeface="Arial"/>
            </a:endParaRPr>
          </a:p>
        </p:txBody>
      </p:sp>
      <p:sp>
        <p:nvSpPr>
          <p:cNvPr id="16" name="Text 6"/>
          <p:cNvSpPr/>
          <p:nvPr/>
        </p:nvSpPr>
        <p:spPr>
          <a:xfrm>
            <a:off x="822960" y="594360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Irakoze  Deborah</a:t>
            </a:r>
            <a:endParaRPr lang="en-US" sz="1400" b="0" u="none" strike="noStrike">
              <a:solidFill>
                <a:srgbClr val="FFFFFF"/>
              </a:solidFill>
              <a:effectLst/>
              <a:uFillTx/>
              <a:latin typeface="Arial"/>
            </a:endParaRPr>
          </a:p>
        </p:txBody>
      </p:sp>
      <p:sp>
        <p:nvSpPr>
          <p:cNvPr id="17" name="Text 7"/>
          <p:cNvSpPr/>
          <p:nvPr/>
        </p:nvSpPr>
        <p:spPr>
          <a:xfrm>
            <a:off x="822960" y="6263640"/>
            <a:ext cx="5485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9FB8C2"/>
                </a:solidFill>
                <a:effectLst/>
                <a:uFillTx/>
                <a:latin typeface="Calibri"/>
                <a:ea typeface="Calibri"/>
              </a:rPr>
              <a:t>Soft Skills for AI Engineers  |  Idea 1 of 3</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THE PROBLEM</a:t>
            </a:r>
            <a:endParaRPr lang="en-US" sz="1300" b="0" u="none" strike="noStrike">
              <a:solidFill>
                <a:srgbClr val="000000"/>
              </a:solidFill>
              <a:effectLst/>
              <a:uFillTx/>
              <a:latin typeface="Arial"/>
            </a:endParaRPr>
          </a:p>
        </p:txBody>
      </p:sp>
      <p:sp>
        <p:nvSpPr>
          <p:cNvPr id="19" name="Text 1"/>
          <p:cNvSpPr/>
          <p:nvPr/>
        </p:nvSpPr>
        <p:spPr>
          <a:xfrm>
            <a:off x="640080" y="822960"/>
            <a:ext cx="10514520" cy="821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Water demand shifts across zones — and planning hasn't kept up</a:t>
            </a:r>
            <a:endParaRPr lang="en-US" sz="2800" b="0" u="none" strike="noStrike">
              <a:solidFill>
                <a:srgbClr val="000000"/>
              </a:solidFill>
              <a:effectLst/>
              <a:uFillTx/>
              <a:latin typeface="Arial"/>
            </a:endParaRPr>
          </a:p>
        </p:txBody>
      </p:sp>
      <p:sp>
        <p:nvSpPr>
          <p:cNvPr id="20" name="Text 2"/>
          <p:cNvSpPr/>
          <p:nvPr/>
        </p:nvSpPr>
        <p:spPr>
          <a:xfrm>
            <a:off x="640080" y="1783080"/>
            <a:ext cx="6033960" cy="155340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500" b="0" u="none" strike="noStrike">
                <a:solidFill>
                  <a:srgbClr val="1A2B33"/>
                </a:solidFill>
                <a:effectLst/>
                <a:uFillTx/>
                <a:latin typeface="Calibri"/>
                <a:ea typeface="Calibri"/>
              </a:rPr>
              <a:t>Urban water suppliers must keep enough water available for every area, but demand doesn't stay still. It shifts with the day of the week, season, weather, population, number of connections, holidays, and past usage patterns.</a:t>
            </a:r>
            <a:endParaRPr lang="en-US" sz="1500" b="0" u="none" strike="noStrike">
              <a:solidFill>
                <a:srgbClr val="000000"/>
              </a:solidFill>
              <a:effectLst/>
              <a:uFillTx/>
              <a:latin typeface="Arial"/>
            </a:endParaRPr>
          </a:p>
        </p:txBody>
      </p:sp>
      <p:sp>
        <p:nvSpPr>
          <p:cNvPr id="21" name="Text 3"/>
          <p:cNvSpPr/>
          <p:nvPr/>
        </p:nvSpPr>
        <p:spPr>
          <a:xfrm>
            <a:off x="640080" y="3429000"/>
            <a:ext cx="6033960" cy="137052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500" b="0" u="none" strike="noStrike">
                <a:solidFill>
                  <a:srgbClr val="1A2B33"/>
                </a:solidFill>
                <a:effectLst/>
                <a:uFillTx/>
                <a:latin typeface="Calibri"/>
                <a:ea typeface="Calibri"/>
              </a:rPr>
              <a:t>Without reliable forecasts, distribution planning falls back on historical experience and manual estimates — a gap that shows up as shortages in some zones and waste in others.</a:t>
            </a:r>
            <a:endParaRPr lang="en-US" sz="1500" b="0" u="none" strike="noStrike">
              <a:solidFill>
                <a:srgbClr val="000000"/>
              </a:solidFill>
              <a:effectLst/>
              <a:uFillTx/>
              <a:latin typeface="Arial"/>
            </a:endParaRPr>
          </a:p>
        </p:txBody>
      </p:sp>
      <p:sp>
        <p:nvSpPr>
          <p:cNvPr id="22" name="Shape 4"/>
          <p:cNvSpPr/>
          <p:nvPr/>
        </p:nvSpPr>
        <p:spPr>
          <a:xfrm>
            <a:off x="7086600" y="1783080"/>
            <a:ext cx="4433760" cy="1324800"/>
          </a:xfrm>
          <a:prstGeom prst="roundRect">
            <a:avLst>
              <a:gd name="adj" fmla="val 6897"/>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Text 5"/>
          <p:cNvSpPr/>
          <p:nvPr/>
        </p:nvSpPr>
        <p:spPr>
          <a:xfrm>
            <a:off x="7360920" y="1920240"/>
            <a:ext cx="393084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65A82"/>
                </a:solidFill>
                <a:effectLst/>
                <a:uFillTx/>
                <a:latin typeface="Calibri"/>
                <a:ea typeface="Calibri"/>
              </a:rPr>
              <a:t>Shortages</a:t>
            </a:r>
            <a:endParaRPr lang="en-US" sz="1500" b="0" u="none" strike="noStrike">
              <a:solidFill>
                <a:srgbClr val="000000"/>
              </a:solidFill>
              <a:effectLst/>
              <a:uFillTx/>
              <a:latin typeface="Arial"/>
            </a:endParaRPr>
          </a:p>
        </p:txBody>
      </p:sp>
      <p:sp>
        <p:nvSpPr>
          <p:cNvPr id="24" name="Text 6"/>
          <p:cNvSpPr/>
          <p:nvPr/>
        </p:nvSpPr>
        <p:spPr>
          <a:xfrm>
            <a:off x="7360920" y="2313360"/>
            <a:ext cx="3976560" cy="68472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200" b="0" u="none" strike="noStrike">
                <a:solidFill>
                  <a:srgbClr val="5B7480"/>
                </a:solidFill>
                <a:effectLst/>
                <a:uFillTx/>
                <a:latin typeface="Calibri"/>
                <a:ea typeface="Calibri"/>
              </a:rPr>
              <a:t>High-demand zones run short when estimation lags reality</a:t>
            </a:r>
            <a:endParaRPr lang="en-US" sz="1200" b="0" u="none" strike="noStrike">
              <a:solidFill>
                <a:srgbClr val="000000"/>
              </a:solidFill>
              <a:effectLst/>
              <a:uFillTx/>
              <a:latin typeface="Arial"/>
            </a:endParaRPr>
          </a:p>
        </p:txBody>
      </p:sp>
      <p:sp>
        <p:nvSpPr>
          <p:cNvPr id="25" name="Shape 7"/>
          <p:cNvSpPr/>
          <p:nvPr/>
        </p:nvSpPr>
        <p:spPr>
          <a:xfrm>
            <a:off x="7086600" y="3291840"/>
            <a:ext cx="4433760" cy="1324800"/>
          </a:xfrm>
          <a:prstGeom prst="roundRect">
            <a:avLst>
              <a:gd name="adj" fmla="val 6897"/>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Text 8"/>
          <p:cNvSpPr/>
          <p:nvPr/>
        </p:nvSpPr>
        <p:spPr>
          <a:xfrm>
            <a:off x="7360920" y="3429000"/>
            <a:ext cx="393084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65A82"/>
                </a:solidFill>
                <a:effectLst/>
                <a:uFillTx/>
                <a:latin typeface="Calibri"/>
                <a:ea typeface="Calibri"/>
              </a:rPr>
              <a:t>Uneven supply</a:t>
            </a:r>
            <a:endParaRPr lang="en-US" sz="1500" b="0" u="none" strike="noStrike">
              <a:solidFill>
                <a:srgbClr val="000000"/>
              </a:solidFill>
              <a:effectLst/>
              <a:uFillTx/>
              <a:latin typeface="Arial"/>
            </a:endParaRPr>
          </a:p>
        </p:txBody>
      </p:sp>
      <p:sp>
        <p:nvSpPr>
          <p:cNvPr id="27" name="Text 9"/>
          <p:cNvSpPr/>
          <p:nvPr/>
        </p:nvSpPr>
        <p:spPr>
          <a:xfrm>
            <a:off x="7360920" y="3822120"/>
            <a:ext cx="3976560" cy="68472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200" b="0" u="none" strike="noStrike">
                <a:solidFill>
                  <a:srgbClr val="5B7480"/>
                </a:solidFill>
                <a:effectLst/>
                <a:uFillTx/>
                <a:latin typeface="Calibri"/>
                <a:ea typeface="Calibri"/>
              </a:rPr>
              <a:t>Some areas over-served while others go under-served</a:t>
            </a:r>
            <a:endParaRPr lang="en-US" sz="1200" b="0" u="none" strike="noStrike">
              <a:solidFill>
                <a:srgbClr val="000000"/>
              </a:solidFill>
              <a:effectLst/>
              <a:uFillTx/>
              <a:latin typeface="Arial"/>
            </a:endParaRPr>
          </a:p>
        </p:txBody>
      </p:sp>
      <p:sp>
        <p:nvSpPr>
          <p:cNvPr id="28" name="Shape 10"/>
          <p:cNvSpPr/>
          <p:nvPr/>
        </p:nvSpPr>
        <p:spPr>
          <a:xfrm>
            <a:off x="7086600" y="4800600"/>
            <a:ext cx="4433760" cy="1324800"/>
          </a:xfrm>
          <a:prstGeom prst="roundRect">
            <a:avLst>
              <a:gd name="adj" fmla="val 6897"/>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11"/>
          <p:cNvSpPr/>
          <p:nvPr/>
        </p:nvSpPr>
        <p:spPr>
          <a:xfrm>
            <a:off x="7360920" y="4937760"/>
            <a:ext cx="393084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65A82"/>
                </a:solidFill>
                <a:effectLst/>
                <a:uFillTx/>
                <a:latin typeface="Calibri"/>
                <a:ea typeface="Calibri"/>
              </a:rPr>
              <a:t>Wasted resource</a:t>
            </a:r>
            <a:endParaRPr lang="en-US" sz="1500" b="0" u="none" strike="noStrike">
              <a:solidFill>
                <a:srgbClr val="000000"/>
              </a:solidFill>
              <a:effectLst/>
              <a:uFillTx/>
              <a:latin typeface="Arial"/>
            </a:endParaRPr>
          </a:p>
        </p:txBody>
      </p:sp>
      <p:sp>
        <p:nvSpPr>
          <p:cNvPr id="30" name="Text 12"/>
          <p:cNvSpPr/>
          <p:nvPr/>
        </p:nvSpPr>
        <p:spPr>
          <a:xfrm>
            <a:off x="7360920" y="5330880"/>
            <a:ext cx="3976560" cy="68472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200" b="0" u="none" strike="noStrike">
                <a:solidFill>
                  <a:srgbClr val="5B7480"/>
                </a:solidFill>
                <a:effectLst/>
                <a:uFillTx/>
                <a:latin typeface="Calibri"/>
                <a:ea typeface="Calibri"/>
              </a:rPr>
              <a:t>Poor allocation means inefficient use of a scarce input</a:t>
            </a:r>
            <a:endParaRPr lang="en-US" sz="1200" b="0" u="none" strike="noStrike">
              <a:solidFill>
                <a:srgbClr val="000000"/>
              </a:solidFill>
              <a:effectLst/>
              <a:uFillTx/>
              <a:latin typeface="Arial"/>
            </a:endParaRPr>
          </a:p>
        </p:txBody>
      </p:sp>
      <p:sp>
        <p:nvSpPr>
          <p:cNvPr id="31" name="Text 13"/>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CONTEXT</a:t>
            </a:r>
            <a:endParaRPr lang="en-US" sz="1300" b="0" u="none" strike="noStrike">
              <a:solidFill>
                <a:srgbClr val="000000"/>
              </a:solidFill>
              <a:effectLst/>
              <a:uFillTx/>
              <a:latin typeface="Arial"/>
            </a:endParaRPr>
          </a:p>
        </p:txBody>
      </p:sp>
      <p:sp>
        <p:nvSpPr>
          <p:cNvPr id="33"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Who feels it, and how it's handled today</a:t>
            </a:r>
            <a:endParaRPr lang="en-US" sz="2800" b="0" u="none" strike="noStrike">
              <a:solidFill>
                <a:srgbClr val="000000"/>
              </a:solidFill>
              <a:effectLst/>
              <a:uFillTx/>
              <a:latin typeface="Arial"/>
            </a:endParaRPr>
          </a:p>
        </p:txBody>
      </p:sp>
      <p:sp>
        <p:nvSpPr>
          <p:cNvPr id="34" name="Shape 2"/>
          <p:cNvSpPr/>
          <p:nvPr/>
        </p:nvSpPr>
        <p:spPr>
          <a:xfrm>
            <a:off x="640080" y="1828800"/>
            <a:ext cx="5211000" cy="4205160"/>
          </a:xfrm>
          <a:prstGeom prst="roundRect">
            <a:avLst>
              <a:gd name="adj" fmla="val 2609"/>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Text 3"/>
          <p:cNvSpPr/>
          <p:nvPr/>
        </p:nvSpPr>
        <p:spPr>
          <a:xfrm>
            <a:off x="1005840" y="210312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8FC1D9"/>
                </a:solidFill>
                <a:effectLst/>
                <a:uFillTx/>
                <a:latin typeface="Calibri"/>
                <a:ea typeface="Calibri"/>
              </a:rPr>
              <a:t>WHO HAS THE PROBLEM</a:t>
            </a:r>
            <a:endParaRPr lang="en-US" sz="1300" b="0" u="none" strike="noStrike">
              <a:solidFill>
                <a:srgbClr val="000000"/>
              </a:solidFill>
              <a:effectLst/>
              <a:uFillTx/>
              <a:latin typeface="Arial"/>
            </a:endParaRPr>
          </a:p>
        </p:txBody>
      </p:sp>
      <p:sp>
        <p:nvSpPr>
          <p:cNvPr id="36" name="Shape 4"/>
          <p:cNvSpPr/>
          <p:nvPr/>
        </p:nvSpPr>
        <p:spPr>
          <a:xfrm>
            <a:off x="1005840" y="2679120"/>
            <a:ext cx="108720" cy="108720"/>
          </a:xfrm>
          <a:prstGeom prst="ellipse">
            <a:avLst/>
          </a:prstGeom>
          <a:solidFill>
            <a:srgbClr val="8FC1D9"/>
          </a:solidFill>
          <a:ln w="0">
            <a:noFill/>
          </a:ln>
        </p:spPr>
        <p:style>
          <a:lnRef idx="0"/>
          <a:fillRef idx="0"/>
          <a:effectRef idx="0"/>
          <a:fontRef idx="minor"/>
        </p:style>
        <p:txBody>
          <a:bodyPr lIns="54360" tIns="32760" rIns="54360" bIns="32760" anchor="t">
            <a:noAutofit/>
          </a:bodyPr>
          <a:p>
            <a:endParaRPr lang="en-US" sz="1800" b="0" u="none" strike="noStrike">
              <a:solidFill>
                <a:srgbClr val="000000"/>
              </a:solidFill>
              <a:effectLst/>
              <a:uFillTx/>
              <a:latin typeface="Arial"/>
            </a:endParaRPr>
          </a:p>
        </p:txBody>
      </p:sp>
      <p:sp>
        <p:nvSpPr>
          <p:cNvPr id="37" name="Text 5"/>
          <p:cNvSpPr/>
          <p:nvPr/>
        </p:nvSpPr>
        <p:spPr>
          <a:xfrm>
            <a:off x="1280160" y="2514600"/>
            <a:ext cx="429660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FFFFFF"/>
                </a:solidFill>
                <a:effectLst/>
                <a:uFillTx/>
                <a:latin typeface="Calibri"/>
                <a:ea typeface="Calibri"/>
              </a:rPr>
              <a:t>Water utilities</a:t>
            </a:r>
            <a:endParaRPr lang="en-US" sz="1500" b="0" u="none" strike="noStrike">
              <a:solidFill>
                <a:srgbClr val="000000"/>
              </a:solidFill>
              <a:effectLst/>
              <a:uFillTx/>
              <a:latin typeface="Arial"/>
            </a:endParaRPr>
          </a:p>
        </p:txBody>
      </p:sp>
      <p:sp>
        <p:nvSpPr>
          <p:cNvPr id="38" name="Shape 6"/>
          <p:cNvSpPr/>
          <p:nvPr/>
        </p:nvSpPr>
        <p:spPr>
          <a:xfrm>
            <a:off x="1005840" y="3246120"/>
            <a:ext cx="108720" cy="108720"/>
          </a:xfrm>
          <a:prstGeom prst="ellipse">
            <a:avLst/>
          </a:prstGeom>
          <a:solidFill>
            <a:srgbClr val="8FC1D9"/>
          </a:solidFill>
          <a:ln w="0">
            <a:noFill/>
          </a:ln>
        </p:spPr>
        <p:style>
          <a:lnRef idx="0"/>
          <a:fillRef idx="0"/>
          <a:effectRef idx="0"/>
          <a:fontRef idx="minor"/>
        </p:style>
        <p:txBody>
          <a:bodyPr lIns="54360" tIns="32760" rIns="54360" bIns="32760" anchor="t">
            <a:noAutofit/>
          </a:bodyPr>
          <a:p>
            <a:endParaRPr lang="en-US" sz="1800" b="0" u="none" strike="noStrike">
              <a:solidFill>
                <a:srgbClr val="000000"/>
              </a:solidFill>
              <a:effectLst/>
              <a:uFillTx/>
              <a:latin typeface="Arial"/>
            </a:endParaRPr>
          </a:p>
        </p:txBody>
      </p:sp>
      <p:sp>
        <p:nvSpPr>
          <p:cNvPr id="39" name="Text 7"/>
          <p:cNvSpPr/>
          <p:nvPr/>
        </p:nvSpPr>
        <p:spPr>
          <a:xfrm>
            <a:off x="1280160" y="3081600"/>
            <a:ext cx="429660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FFFFFF"/>
                </a:solidFill>
                <a:effectLst/>
                <a:uFillTx/>
                <a:latin typeface="Calibri"/>
                <a:ea typeface="Calibri"/>
              </a:rPr>
              <a:t>Water distribution planners</a:t>
            </a:r>
            <a:endParaRPr lang="en-US" sz="1500" b="0" u="none" strike="noStrike">
              <a:solidFill>
                <a:srgbClr val="000000"/>
              </a:solidFill>
              <a:effectLst/>
              <a:uFillTx/>
              <a:latin typeface="Arial"/>
            </a:endParaRPr>
          </a:p>
        </p:txBody>
      </p:sp>
      <p:sp>
        <p:nvSpPr>
          <p:cNvPr id="40" name="Shape 8"/>
          <p:cNvSpPr/>
          <p:nvPr/>
        </p:nvSpPr>
        <p:spPr>
          <a:xfrm>
            <a:off x="1005840" y="3813120"/>
            <a:ext cx="108720" cy="108720"/>
          </a:xfrm>
          <a:prstGeom prst="ellipse">
            <a:avLst/>
          </a:prstGeom>
          <a:solidFill>
            <a:srgbClr val="8FC1D9"/>
          </a:solidFill>
          <a:ln w="0">
            <a:noFill/>
          </a:ln>
        </p:spPr>
        <p:style>
          <a:lnRef idx="0"/>
          <a:fillRef idx="0"/>
          <a:effectRef idx="0"/>
          <a:fontRef idx="minor"/>
        </p:style>
        <p:txBody>
          <a:bodyPr lIns="54360" tIns="32760" rIns="54360" bIns="32760" anchor="t">
            <a:noAutofit/>
          </a:bodyPr>
          <a:p>
            <a:endParaRPr lang="en-US" sz="1800" b="0" u="none" strike="noStrike">
              <a:solidFill>
                <a:srgbClr val="000000"/>
              </a:solidFill>
              <a:effectLst/>
              <a:uFillTx/>
              <a:latin typeface="Arial"/>
            </a:endParaRPr>
          </a:p>
        </p:txBody>
      </p:sp>
      <p:sp>
        <p:nvSpPr>
          <p:cNvPr id="41" name="Text 9"/>
          <p:cNvSpPr/>
          <p:nvPr/>
        </p:nvSpPr>
        <p:spPr>
          <a:xfrm>
            <a:off x="1280160" y="3648600"/>
            <a:ext cx="429660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FFFFFF"/>
                </a:solidFill>
                <a:effectLst/>
                <a:uFillTx/>
                <a:latin typeface="Calibri"/>
                <a:ea typeface="Calibri"/>
              </a:rPr>
              <a:t>Urban communities depending on reliable supply</a:t>
            </a:r>
            <a:endParaRPr lang="en-US" sz="1500" b="0" u="none" strike="noStrike">
              <a:solidFill>
                <a:srgbClr val="000000"/>
              </a:solidFill>
              <a:effectLst/>
              <a:uFillTx/>
              <a:latin typeface="Arial"/>
            </a:endParaRPr>
          </a:p>
        </p:txBody>
      </p:sp>
      <p:sp>
        <p:nvSpPr>
          <p:cNvPr id="42" name="Text 10"/>
          <p:cNvSpPr/>
          <p:nvPr/>
        </p:nvSpPr>
        <p:spPr>
          <a:xfrm>
            <a:off x="1005840" y="4663440"/>
            <a:ext cx="4479480" cy="10962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300" b="0" i="1" u="none" strike="noStrike">
                <a:solidFill>
                  <a:srgbClr val="E8F1F5"/>
                </a:solidFill>
                <a:effectLst/>
                <a:uFillTx/>
                <a:latin typeface="Calibri"/>
                <a:ea typeface="Calibri"/>
              </a:rPr>
              <a:t>These groups plan supply, so they absorb the cost whenever demand estimates miss.</a:t>
            </a:r>
            <a:endParaRPr lang="en-US" sz="1300" b="0" u="none" strike="noStrike">
              <a:solidFill>
                <a:srgbClr val="000000"/>
              </a:solidFill>
              <a:effectLst/>
              <a:uFillTx/>
              <a:latin typeface="Arial"/>
            </a:endParaRPr>
          </a:p>
        </p:txBody>
      </p:sp>
      <p:sp>
        <p:nvSpPr>
          <p:cNvPr id="43" name="Shape 11"/>
          <p:cNvSpPr/>
          <p:nvPr/>
        </p:nvSpPr>
        <p:spPr>
          <a:xfrm>
            <a:off x="6172200" y="1828800"/>
            <a:ext cx="5348160" cy="4205160"/>
          </a:xfrm>
          <a:prstGeom prst="roundRect">
            <a:avLst>
              <a:gd name="adj" fmla="val 2609"/>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 name="Text 12"/>
          <p:cNvSpPr/>
          <p:nvPr/>
        </p:nvSpPr>
        <p:spPr>
          <a:xfrm>
            <a:off x="6537960" y="210312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065A82"/>
                </a:solidFill>
                <a:effectLst/>
                <a:uFillTx/>
                <a:latin typeface="Calibri"/>
                <a:ea typeface="Calibri"/>
              </a:rPr>
              <a:t>HOW THEY DEAL WITH IT TODAY</a:t>
            </a:r>
            <a:endParaRPr lang="en-US" sz="1300" b="0" u="none" strike="noStrike">
              <a:solidFill>
                <a:srgbClr val="000000"/>
              </a:solidFill>
              <a:effectLst/>
              <a:uFillTx/>
              <a:latin typeface="Arial"/>
            </a:endParaRPr>
          </a:p>
        </p:txBody>
      </p:sp>
      <p:sp>
        <p:nvSpPr>
          <p:cNvPr id="45" name="Shape 13"/>
          <p:cNvSpPr/>
          <p:nvPr/>
        </p:nvSpPr>
        <p:spPr>
          <a:xfrm>
            <a:off x="6537960" y="2679120"/>
            <a:ext cx="108720" cy="108720"/>
          </a:xfrm>
          <a:prstGeom prst="ellipse">
            <a:avLst/>
          </a:prstGeom>
          <a:solidFill>
            <a:srgbClr val="065A82"/>
          </a:solidFill>
          <a:ln w="0">
            <a:noFill/>
          </a:ln>
        </p:spPr>
        <p:style>
          <a:lnRef idx="0"/>
          <a:fillRef idx="0"/>
          <a:effectRef idx="0"/>
          <a:fontRef idx="minor"/>
        </p:style>
        <p:txBody>
          <a:bodyPr lIns="54360" tIns="32760" rIns="54360" bIns="32760" anchor="t">
            <a:noAutofit/>
          </a:bodyPr>
          <a:p>
            <a:endParaRPr lang="en-US" sz="1800" b="0" u="none" strike="noStrike">
              <a:solidFill>
                <a:srgbClr val="FFFFFF"/>
              </a:solidFill>
              <a:effectLst/>
              <a:uFillTx/>
              <a:latin typeface="Arial"/>
            </a:endParaRPr>
          </a:p>
        </p:txBody>
      </p:sp>
      <p:sp>
        <p:nvSpPr>
          <p:cNvPr id="46" name="Text 14"/>
          <p:cNvSpPr/>
          <p:nvPr/>
        </p:nvSpPr>
        <p:spPr>
          <a:xfrm>
            <a:off x="6812280" y="2514600"/>
            <a:ext cx="447948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A2B33"/>
                </a:solidFill>
                <a:effectLst/>
                <a:uFillTx/>
                <a:latin typeface="Calibri"/>
                <a:ea typeface="Calibri"/>
              </a:rPr>
              <a:t>Historical demand records</a:t>
            </a:r>
            <a:endParaRPr lang="en-US" sz="1500" b="0" u="none" strike="noStrike">
              <a:solidFill>
                <a:srgbClr val="000000"/>
              </a:solidFill>
              <a:effectLst/>
              <a:uFillTx/>
              <a:latin typeface="Arial"/>
            </a:endParaRPr>
          </a:p>
        </p:txBody>
      </p:sp>
      <p:sp>
        <p:nvSpPr>
          <p:cNvPr id="47" name="Shape 15"/>
          <p:cNvSpPr/>
          <p:nvPr/>
        </p:nvSpPr>
        <p:spPr>
          <a:xfrm>
            <a:off x="6537960" y="3246120"/>
            <a:ext cx="108720" cy="108720"/>
          </a:xfrm>
          <a:prstGeom prst="ellipse">
            <a:avLst/>
          </a:prstGeom>
          <a:solidFill>
            <a:srgbClr val="065A82"/>
          </a:solidFill>
          <a:ln w="0">
            <a:noFill/>
          </a:ln>
        </p:spPr>
        <p:style>
          <a:lnRef idx="0"/>
          <a:fillRef idx="0"/>
          <a:effectRef idx="0"/>
          <a:fontRef idx="minor"/>
        </p:style>
        <p:txBody>
          <a:bodyPr lIns="54360" tIns="32760" rIns="54360" bIns="32760" anchor="t">
            <a:noAutofit/>
          </a:bodyPr>
          <a:p>
            <a:endParaRPr lang="en-US" sz="1800" b="0" u="none" strike="noStrike">
              <a:solidFill>
                <a:srgbClr val="FFFFFF"/>
              </a:solidFill>
              <a:effectLst/>
              <a:uFillTx/>
              <a:latin typeface="Arial"/>
            </a:endParaRPr>
          </a:p>
        </p:txBody>
      </p:sp>
      <p:sp>
        <p:nvSpPr>
          <p:cNvPr id="48" name="Text 16"/>
          <p:cNvSpPr/>
          <p:nvPr/>
        </p:nvSpPr>
        <p:spPr>
          <a:xfrm>
            <a:off x="6812280" y="3081600"/>
            <a:ext cx="447948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A2B33"/>
                </a:solidFill>
                <a:effectLst/>
                <a:uFillTx/>
                <a:latin typeface="Calibri"/>
                <a:ea typeface="Calibri"/>
              </a:rPr>
              <a:t>Fixed distribution schedules</a:t>
            </a:r>
            <a:endParaRPr lang="en-US" sz="1500" b="0" u="none" strike="noStrike">
              <a:solidFill>
                <a:srgbClr val="000000"/>
              </a:solidFill>
              <a:effectLst/>
              <a:uFillTx/>
              <a:latin typeface="Arial"/>
            </a:endParaRPr>
          </a:p>
        </p:txBody>
      </p:sp>
      <p:sp>
        <p:nvSpPr>
          <p:cNvPr id="49" name="Shape 17"/>
          <p:cNvSpPr/>
          <p:nvPr/>
        </p:nvSpPr>
        <p:spPr>
          <a:xfrm>
            <a:off x="6537960" y="3813120"/>
            <a:ext cx="108720" cy="108720"/>
          </a:xfrm>
          <a:prstGeom prst="ellipse">
            <a:avLst/>
          </a:prstGeom>
          <a:solidFill>
            <a:srgbClr val="065A82"/>
          </a:solidFill>
          <a:ln w="0">
            <a:noFill/>
          </a:ln>
        </p:spPr>
        <p:style>
          <a:lnRef idx="0"/>
          <a:fillRef idx="0"/>
          <a:effectRef idx="0"/>
          <a:fontRef idx="minor"/>
        </p:style>
        <p:txBody>
          <a:bodyPr lIns="54360" tIns="32760" rIns="54360" bIns="32760" anchor="t">
            <a:noAutofit/>
          </a:bodyPr>
          <a:p>
            <a:endParaRPr lang="en-US" sz="1800" b="0" u="none" strike="noStrike">
              <a:solidFill>
                <a:srgbClr val="FFFFFF"/>
              </a:solidFill>
              <a:effectLst/>
              <a:uFillTx/>
              <a:latin typeface="Arial"/>
            </a:endParaRPr>
          </a:p>
        </p:txBody>
      </p:sp>
      <p:sp>
        <p:nvSpPr>
          <p:cNvPr id="50" name="Text 18"/>
          <p:cNvSpPr/>
          <p:nvPr/>
        </p:nvSpPr>
        <p:spPr>
          <a:xfrm>
            <a:off x="6812280" y="3648600"/>
            <a:ext cx="447948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A2B33"/>
                </a:solidFill>
                <a:effectLst/>
                <a:uFillTx/>
                <a:latin typeface="Calibri"/>
                <a:ea typeface="Calibri"/>
              </a:rPr>
              <a:t>Manual observation in the field</a:t>
            </a:r>
            <a:endParaRPr lang="en-US" sz="1500" b="0" u="none" strike="noStrike">
              <a:solidFill>
                <a:srgbClr val="000000"/>
              </a:solidFill>
              <a:effectLst/>
              <a:uFillTx/>
              <a:latin typeface="Arial"/>
            </a:endParaRPr>
          </a:p>
        </p:txBody>
      </p:sp>
      <p:sp>
        <p:nvSpPr>
          <p:cNvPr id="51" name="Shape 19"/>
          <p:cNvSpPr/>
          <p:nvPr/>
        </p:nvSpPr>
        <p:spPr>
          <a:xfrm>
            <a:off x="6537960" y="4380120"/>
            <a:ext cx="108720" cy="108720"/>
          </a:xfrm>
          <a:prstGeom prst="ellipse">
            <a:avLst/>
          </a:prstGeom>
          <a:solidFill>
            <a:srgbClr val="065A82"/>
          </a:solidFill>
          <a:ln w="0">
            <a:noFill/>
          </a:ln>
        </p:spPr>
        <p:style>
          <a:lnRef idx="0"/>
          <a:fillRef idx="0"/>
          <a:effectRef idx="0"/>
          <a:fontRef idx="minor"/>
        </p:style>
        <p:txBody>
          <a:bodyPr lIns="54360" tIns="32760" rIns="54360" bIns="32760" anchor="t">
            <a:noAutofit/>
          </a:bodyPr>
          <a:p>
            <a:endParaRPr lang="en-US" sz="1800" b="0" u="none" strike="noStrike">
              <a:solidFill>
                <a:srgbClr val="FFFFFF"/>
              </a:solidFill>
              <a:effectLst/>
              <a:uFillTx/>
              <a:latin typeface="Arial"/>
            </a:endParaRPr>
          </a:p>
        </p:txBody>
      </p:sp>
      <p:sp>
        <p:nvSpPr>
          <p:cNvPr id="52" name="Text 20"/>
          <p:cNvSpPr/>
          <p:nvPr/>
        </p:nvSpPr>
        <p:spPr>
          <a:xfrm>
            <a:off x="6812280" y="4215240"/>
            <a:ext cx="447948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A2B33"/>
                </a:solidFill>
                <a:effectLst/>
                <a:uFillTx/>
                <a:latin typeface="Calibri"/>
                <a:ea typeface="Calibri"/>
              </a:rPr>
              <a:t>Prior experience and estimates</a:t>
            </a:r>
            <a:endParaRPr lang="en-US" sz="1500" b="0" u="none" strike="noStrike">
              <a:solidFill>
                <a:srgbClr val="000000"/>
              </a:solidFill>
              <a:effectLst/>
              <a:uFillTx/>
              <a:latin typeface="Arial"/>
            </a:endParaRPr>
          </a:p>
        </p:txBody>
      </p:sp>
      <p:sp>
        <p:nvSpPr>
          <p:cNvPr id="53" name="Text 21"/>
          <p:cNvSpPr/>
          <p:nvPr/>
        </p:nvSpPr>
        <p:spPr>
          <a:xfrm>
            <a:off x="6537960" y="5074920"/>
            <a:ext cx="4753800" cy="82188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300" b="0" i="1" u="none" strike="noStrike">
                <a:solidFill>
                  <a:srgbClr val="5B7480"/>
                </a:solidFill>
                <a:effectLst/>
                <a:uFillTx/>
                <a:latin typeface="Calibri"/>
                <a:ea typeface="Calibri"/>
              </a:rPr>
              <a:t>Workable when patterns are stable — but it breaks down exactly when demand shifts unexpectedly.</a:t>
            </a:r>
            <a:endParaRPr lang="en-US" sz="1300" b="0" u="none" strike="noStrike">
              <a:solidFill>
                <a:srgbClr val="000000"/>
              </a:solidFill>
              <a:effectLst/>
              <a:uFillTx/>
              <a:latin typeface="Arial"/>
            </a:endParaRPr>
          </a:p>
        </p:txBody>
      </p:sp>
      <p:sp>
        <p:nvSpPr>
          <p:cNvPr id="54" name="Text 22"/>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WHY AI / ML</a:t>
            </a:r>
            <a:endParaRPr lang="en-US" sz="1300" b="0" u="none" strike="noStrike">
              <a:solidFill>
                <a:srgbClr val="000000"/>
              </a:solidFill>
              <a:effectLst/>
              <a:uFillTx/>
              <a:latin typeface="Arial"/>
            </a:endParaRPr>
          </a:p>
        </p:txBody>
      </p:sp>
      <p:sp>
        <p:nvSpPr>
          <p:cNvPr id="56"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Too many interacting factors for fixed rules</a:t>
            </a:r>
            <a:endParaRPr lang="en-US" sz="2800" b="0" u="none" strike="noStrike">
              <a:solidFill>
                <a:srgbClr val="000000"/>
              </a:solidFill>
              <a:effectLst/>
              <a:uFillTx/>
              <a:latin typeface="Arial"/>
            </a:endParaRPr>
          </a:p>
        </p:txBody>
      </p:sp>
      <p:sp>
        <p:nvSpPr>
          <p:cNvPr id="57" name="Shape 2"/>
          <p:cNvSpPr/>
          <p:nvPr/>
        </p:nvSpPr>
        <p:spPr>
          <a:xfrm>
            <a:off x="640080" y="1920240"/>
            <a:ext cx="5211000" cy="3839400"/>
          </a:xfrm>
          <a:prstGeom prst="roundRect">
            <a:avLst>
              <a:gd name="adj" fmla="val 28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3"/>
          <p:cNvSpPr/>
          <p:nvPr/>
        </p:nvSpPr>
        <p:spPr>
          <a:xfrm>
            <a:off x="1005840" y="219456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5B7480"/>
                </a:solidFill>
                <a:effectLst/>
                <a:uFillTx/>
                <a:latin typeface="Calibri"/>
                <a:ea typeface="Calibri"/>
              </a:rPr>
              <a:t>RULE-BASED / THRESHOLDS</a:t>
            </a:r>
            <a:endParaRPr lang="en-US" sz="1300" b="0" u="none" strike="noStrike">
              <a:solidFill>
                <a:srgbClr val="000000"/>
              </a:solidFill>
              <a:effectLst/>
              <a:uFillTx/>
              <a:latin typeface="Arial"/>
            </a:endParaRPr>
          </a:p>
        </p:txBody>
      </p:sp>
      <p:sp>
        <p:nvSpPr>
          <p:cNvPr id="59" name="Text 4"/>
          <p:cNvSpPr/>
          <p:nvPr/>
        </p:nvSpPr>
        <p:spPr>
          <a:xfrm>
            <a:off x="1005840" y="2697480"/>
            <a:ext cx="4479480" cy="127908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400" b="0" u="none" strike="noStrike">
                <a:solidFill>
                  <a:srgbClr val="1A2B33"/>
                </a:solidFill>
                <a:effectLst/>
                <a:uFillTx/>
                <a:latin typeface="Calibri"/>
                <a:ea typeface="Calibri"/>
              </a:rPr>
              <a:t>Fixed thresholds or historical averages treat every zone and season the same way — they can't adapt when several factors move together.</a:t>
            </a:r>
            <a:endParaRPr lang="en-US" sz="1400" b="0" u="none" strike="noStrike">
              <a:solidFill>
                <a:srgbClr val="000000"/>
              </a:solidFill>
              <a:effectLst/>
              <a:uFillTx/>
              <a:latin typeface="Arial"/>
            </a:endParaRPr>
          </a:p>
        </p:txBody>
      </p:sp>
      <p:sp>
        <p:nvSpPr>
          <p:cNvPr id="60" name="Text 5"/>
          <p:cNvSpPr/>
          <p:nvPr/>
        </p:nvSpPr>
        <p:spPr>
          <a:xfrm>
            <a:off x="1005840" y="4114800"/>
            <a:ext cx="4479480" cy="1461960"/>
          </a:xfrm>
          <a:prstGeom prst="rect">
            <a:avLst/>
          </a:prstGeom>
          <a:noFill/>
          <a:ln w="0">
            <a:noFill/>
          </a:ln>
        </p:spPr>
        <p:style>
          <a:lnRef idx="0"/>
          <a:fillRef idx="0"/>
          <a:effectRef idx="0"/>
          <a:fontRef idx="minor"/>
        </p:style>
        <p:txBody>
          <a:bodyPr lIns="0" tIns="0" rIns="0" bIns="0" anchor="ctr">
            <a:noAutofit/>
          </a:bodyPr>
          <a:p>
            <a:pPr defTabSz="914400">
              <a:lnSpc>
                <a:spcPct val="150000"/>
              </a:lnSpc>
              <a:tabLst>
                <a:tab pos="0" algn="l"/>
              </a:tabLst>
            </a:pPr>
            <a:r>
              <a:rPr lang="en-US" sz="1350" b="0" u="none" strike="noStrike">
                <a:solidFill>
                  <a:srgbClr val="8A1F2B"/>
                </a:solidFill>
                <a:effectLst/>
                <a:uFillTx/>
                <a:latin typeface="Calibri"/>
                <a:ea typeface="Calibri"/>
              </a:rPr>
              <a:t>✕  Blind to interacting variables</a:t>
            </a:r>
            <a:endParaRPr lang="en-US" sz="1350" b="0" u="none" strike="noStrike">
              <a:solidFill>
                <a:srgbClr val="000000"/>
              </a:solidFill>
              <a:effectLst/>
              <a:uFillTx/>
              <a:latin typeface="Arial"/>
            </a:endParaRPr>
          </a:p>
          <a:p>
            <a:pPr defTabSz="914400">
              <a:lnSpc>
                <a:spcPct val="150000"/>
              </a:lnSpc>
              <a:tabLst>
                <a:tab pos="0" algn="l"/>
              </a:tabLst>
            </a:pPr>
            <a:r>
              <a:rPr lang="en-US" sz="1350" b="0" u="none" strike="noStrike">
                <a:solidFill>
                  <a:srgbClr val="8A1F2B"/>
                </a:solidFill>
                <a:effectLst/>
                <a:uFillTx/>
                <a:latin typeface="Calibri"/>
                <a:ea typeface="Calibri"/>
              </a:rPr>
              <a:t>✕  Same rule for every zone</a:t>
            </a:r>
            <a:endParaRPr lang="en-US" sz="1350" b="0" u="none" strike="noStrike">
              <a:solidFill>
                <a:srgbClr val="000000"/>
              </a:solidFill>
              <a:effectLst/>
              <a:uFillTx/>
              <a:latin typeface="Arial"/>
            </a:endParaRPr>
          </a:p>
          <a:p>
            <a:pPr defTabSz="914400">
              <a:lnSpc>
                <a:spcPct val="150000"/>
              </a:lnSpc>
              <a:tabLst>
                <a:tab pos="0" algn="l"/>
              </a:tabLst>
            </a:pPr>
            <a:r>
              <a:rPr lang="en-US" sz="1350" b="0" u="none" strike="noStrike">
                <a:solidFill>
                  <a:srgbClr val="8A1F2B"/>
                </a:solidFill>
                <a:effectLst/>
                <a:uFillTx/>
                <a:latin typeface="Calibri"/>
                <a:ea typeface="Calibri"/>
              </a:rPr>
              <a:t>✕  Doesn't improve with more data</a:t>
            </a:r>
            <a:endParaRPr lang="en-US" sz="1350" b="0" u="none" strike="noStrike">
              <a:solidFill>
                <a:srgbClr val="000000"/>
              </a:solidFill>
              <a:effectLst/>
              <a:uFillTx/>
              <a:latin typeface="Arial"/>
            </a:endParaRPr>
          </a:p>
        </p:txBody>
      </p:sp>
      <p:sp>
        <p:nvSpPr>
          <p:cNvPr id="61" name="Shape 6"/>
          <p:cNvSpPr/>
          <p:nvPr/>
        </p:nvSpPr>
        <p:spPr>
          <a:xfrm>
            <a:off x="6309360" y="1920240"/>
            <a:ext cx="5211000" cy="3839400"/>
          </a:xfrm>
          <a:prstGeom prst="roundRect">
            <a:avLst>
              <a:gd name="adj" fmla="val 2857"/>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Text 7"/>
          <p:cNvSpPr/>
          <p:nvPr/>
        </p:nvSpPr>
        <p:spPr>
          <a:xfrm>
            <a:off x="6675120" y="219456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8FC1D9"/>
                </a:solidFill>
                <a:effectLst/>
                <a:uFillTx/>
                <a:latin typeface="Calibri"/>
                <a:ea typeface="Calibri"/>
              </a:rPr>
              <a:t>MACHINE LEARNING</a:t>
            </a:r>
            <a:endParaRPr lang="en-US" sz="1300" b="0" u="none" strike="noStrike">
              <a:solidFill>
                <a:srgbClr val="000000"/>
              </a:solidFill>
              <a:effectLst/>
              <a:uFillTx/>
              <a:latin typeface="Arial"/>
            </a:endParaRPr>
          </a:p>
        </p:txBody>
      </p:sp>
      <p:sp>
        <p:nvSpPr>
          <p:cNvPr id="63" name="Text 8"/>
          <p:cNvSpPr/>
          <p:nvPr/>
        </p:nvSpPr>
        <p:spPr>
          <a:xfrm>
            <a:off x="6675120" y="2697480"/>
            <a:ext cx="4479480" cy="127908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400" b="0" u="none" strike="noStrike">
                <a:solidFill>
                  <a:srgbClr val="FFFFFF"/>
                </a:solidFill>
                <a:effectLst/>
                <a:uFillTx/>
                <a:latin typeface="Calibri"/>
                <a:ea typeface="Calibri"/>
              </a:rPr>
              <a:t>A model trained on historical demand can learn how season, weather, population, and prior usage combine — then predict demand per zone for a future period.</a:t>
            </a:r>
            <a:endParaRPr lang="en-US" sz="1400" b="0" u="none" strike="noStrike">
              <a:solidFill>
                <a:srgbClr val="000000"/>
              </a:solidFill>
              <a:effectLst/>
              <a:uFillTx/>
              <a:latin typeface="Arial"/>
            </a:endParaRPr>
          </a:p>
        </p:txBody>
      </p:sp>
      <p:sp>
        <p:nvSpPr>
          <p:cNvPr id="64" name="Text 9"/>
          <p:cNvSpPr/>
          <p:nvPr/>
        </p:nvSpPr>
        <p:spPr>
          <a:xfrm>
            <a:off x="6675120" y="4114800"/>
            <a:ext cx="4479480" cy="1461960"/>
          </a:xfrm>
          <a:prstGeom prst="rect">
            <a:avLst/>
          </a:prstGeom>
          <a:noFill/>
          <a:ln w="0">
            <a:noFill/>
          </a:ln>
        </p:spPr>
        <p:style>
          <a:lnRef idx="0"/>
          <a:fillRef idx="0"/>
          <a:effectRef idx="0"/>
          <a:fontRef idx="minor"/>
        </p:style>
        <p:txBody>
          <a:bodyPr lIns="0" tIns="0" rIns="0" bIns="0" anchor="ctr">
            <a:noAutofit/>
          </a:bodyPr>
          <a:p>
            <a:pPr defTabSz="914400">
              <a:lnSpc>
                <a:spcPct val="150000"/>
              </a:lnSpc>
              <a:tabLst>
                <a:tab pos="0" algn="l"/>
              </a:tabLst>
            </a:pPr>
            <a:r>
              <a:rPr lang="en-US" sz="1350" b="0" u="none" strike="noStrike">
                <a:solidFill>
                  <a:srgbClr val="BEE3F0"/>
                </a:solidFill>
                <a:effectLst/>
                <a:uFillTx/>
                <a:latin typeface="Calibri"/>
                <a:ea typeface="Calibri"/>
              </a:rPr>
              <a:t>✓  Learns patterns across variables</a:t>
            </a:r>
            <a:endParaRPr lang="en-US" sz="1350" b="0" u="none" strike="noStrike">
              <a:solidFill>
                <a:srgbClr val="000000"/>
              </a:solidFill>
              <a:effectLst/>
              <a:uFillTx/>
              <a:latin typeface="Arial"/>
            </a:endParaRPr>
          </a:p>
          <a:p>
            <a:pPr defTabSz="914400">
              <a:lnSpc>
                <a:spcPct val="150000"/>
              </a:lnSpc>
              <a:tabLst>
                <a:tab pos="0" algn="l"/>
              </a:tabLst>
            </a:pPr>
            <a:r>
              <a:rPr lang="en-US" sz="1350" b="0" u="none" strike="noStrike">
                <a:solidFill>
                  <a:srgbClr val="BEE3F0"/>
                </a:solidFill>
                <a:effectLst/>
                <a:uFillTx/>
                <a:latin typeface="Calibri"/>
                <a:ea typeface="Calibri"/>
              </a:rPr>
              <a:t>✓  Zone-specific predictions</a:t>
            </a:r>
            <a:endParaRPr lang="en-US" sz="1350" b="0" u="none" strike="noStrike">
              <a:solidFill>
                <a:srgbClr val="000000"/>
              </a:solidFill>
              <a:effectLst/>
              <a:uFillTx/>
              <a:latin typeface="Arial"/>
            </a:endParaRPr>
          </a:p>
          <a:p>
            <a:pPr defTabSz="914400">
              <a:lnSpc>
                <a:spcPct val="150000"/>
              </a:lnSpc>
              <a:tabLst>
                <a:tab pos="0" algn="l"/>
              </a:tabLst>
            </a:pPr>
            <a:r>
              <a:rPr lang="en-US" sz="1350" b="0" u="none" strike="noStrike">
                <a:solidFill>
                  <a:srgbClr val="BEE3F0"/>
                </a:solidFill>
                <a:effectLst/>
                <a:uFillTx/>
                <a:latin typeface="Calibri"/>
                <a:ea typeface="Calibri"/>
              </a:rPr>
              <a:t>✓  Improves as more data arrives</a:t>
            </a:r>
            <a:endParaRPr lang="en-US" sz="1350" b="0" u="none" strike="noStrike">
              <a:solidFill>
                <a:srgbClr val="000000"/>
              </a:solidFill>
              <a:effectLst/>
              <a:uFillTx/>
              <a:latin typeface="Arial"/>
            </a:endParaRPr>
          </a:p>
        </p:txBody>
      </p:sp>
      <p:sp>
        <p:nvSpPr>
          <p:cNvPr id="65" name="Text 10"/>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PROPOSED APPROACH</a:t>
            </a:r>
            <a:endParaRPr lang="en-US" sz="1300" b="0" u="none" strike="noStrike">
              <a:solidFill>
                <a:srgbClr val="000000"/>
              </a:solidFill>
              <a:effectLst/>
              <a:uFillTx/>
              <a:latin typeface="Arial"/>
            </a:endParaRPr>
          </a:p>
        </p:txBody>
      </p:sp>
      <p:sp>
        <p:nvSpPr>
          <p:cNvPr id="67"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From historical records to a zone-level forecast</a:t>
            </a:r>
            <a:endParaRPr lang="en-US" sz="2800" b="0" u="none" strike="noStrike">
              <a:solidFill>
                <a:srgbClr val="000000"/>
              </a:solidFill>
              <a:effectLst/>
              <a:uFillTx/>
              <a:latin typeface="Arial"/>
            </a:endParaRPr>
          </a:p>
        </p:txBody>
      </p:sp>
      <p:sp>
        <p:nvSpPr>
          <p:cNvPr id="68" name="Shape 2"/>
          <p:cNvSpPr/>
          <p:nvPr/>
        </p:nvSpPr>
        <p:spPr>
          <a:xfrm>
            <a:off x="640080" y="2286000"/>
            <a:ext cx="2513520" cy="3016440"/>
          </a:xfrm>
          <a:prstGeom prst="roundRect">
            <a:avLst>
              <a:gd name="adj" fmla="val 3636"/>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 name="Text 3"/>
          <p:cNvSpPr/>
          <p:nvPr/>
        </p:nvSpPr>
        <p:spPr>
          <a:xfrm>
            <a:off x="822960" y="2468880"/>
            <a:ext cx="91332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alpha val="75000"/>
                  </a:srgbClr>
                </a:solidFill>
                <a:effectLst/>
                <a:uFillTx/>
                <a:latin typeface="Cambria"/>
                <a:ea typeface="Cambria"/>
              </a:rPr>
              <a:t>1</a:t>
            </a:r>
            <a:endParaRPr lang="en-US" sz="3000" b="0" u="none" strike="noStrike">
              <a:solidFill>
                <a:srgbClr val="000000"/>
              </a:solidFill>
              <a:effectLst/>
              <a:uFillTx/>
              <a:latin typeface="Arial"/>
            </a:endParaRPr>
          </a:p>
        </p:txBody>
      </p:sp>
      <p:sp>
        <p:nvSpPr>
          <p:cNvPr id="70" name="Text 4"/>
          <p:cNvSpPr/>
          <p:nvPr/>
        </p:nvSpPr>
        <p:spPr>
          <a:xfrm>
            <a:off x="822960" y="3200400"/>
            <a:ext cx="214776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Collect</a:t>
            </a:r>
            <a:endParaRPr lang="en-US" sz="1700" b="0" u="none" strike="noStrike">
              <a:solidFill>
                <a:srgbClr val="000000"/>
              </a:solidFill>
              <a:effectLst/>
              <a:uFillTx/>
              <a:latin typeface="Arial"/>
            </a:endParaRPr>
          </a:p>
        </p:txBody>
      </p:sp>
      <p:sp>
        <p:nvSpPr>
          <p:cNvPr id="71" name="Text 5"/>
          <p:cNvSpPr/>
          <p:nvPr/>
        </p:nvSpPr>
        <p:spPr>
          <a:xfrm>
            <a:off x="822960" y="3703320"/>
            <a:ext cx="2147760" cy="146196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200" b="0" u="none" strike="noStrike">
                <a:solidFill>
                  <a:srgbClr val="E8F1F5"/>
                </a:solidFill>
                <a:effectLst/>
                <a:uFillTx/>
                <a:latin typeface="Calibri"/>
                <a:ea typeface="Calibri"/>
              </a:rPr>
              <a:t>Historical demand, weather, population, connections, holidays — per zone</a:t>
            </a:r>
            <a:endParaRPr lang="en-US" sz="1200" b="0" u="none" strike="noStrike">
              <a:solidFill>
                <a:srgbClr val="000000"/>
              </a:solidFill>
              <a:effectLst/>
              <a:uFillTx/>
              <a:latin typeface="Arial"/>
            </a:endParaRPr>
          </a:p>
        </p:txBody>
      </p:sp>
      <p:sp>
        <p:nvSpPr>
          <p:cNvPr id="72" name="Text 6"/>
          <p:cNvSpPr/>
          <p:nvPr/>
        </p:nvSpPr>
        <p:spPr>
          <a:xfrm>
            <a:off x="3108960" y="3520440"/>
            <a:ext cx="36468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5B7480"/>
                </a:solidFill>
                <a:effectLst/>
                <a:uFillTx/>
                <a:latin typeface="Calibri"/>
                <a:ea typeface="Calibri"/>
              </a:rPr>
              <a:t>→</a:t>
            </a:r>
            <a:endParaRPr lang="en-US" sz="2200" b="0" u="none" strike="noStrike">
              <a:solidFill>
                <a:srgbClr val="000000"/>
              </a:solidFill>
              <a:effectLst/>
              <a:uFillTx/>
              <a:latin typeface="Arial"/>
            </a:endParaRPr>
          </a:p>
        </p:txBody>
      </p:sp>
      <p:sp>
        <p:nvSpPr>
          <p:cNvPr id="73" name="Shape 7"/>
          <p:cNvSpPr/>
          <p:nvPr/>
        </p:nvSpPr>
        <p:spPr>
          <a:xfrm>
            <a:off x="3410640" y="2286000"/>
            <a:ext cx="2513520" cy="3016440"/>
          </a:xfrm>
          <a:prstGeom prst="roundRect">
            <a:avLst>
              <a:gd name="adj" fmla="val 3636"/>
            </a:avLst>
          </a:prstGeom>
          <a:solidFill>
            <a:srgbClr val="1C729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 name="Text 8"/>
          <p:cNvSpPr/>
          <p:nvPr/>
        </p:nvSpPr>
        <p:spPr>
          <a:xfrm>
            <a:off x="3593520" y="2468880"/>
            <a:ext cx="91332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alpha val="75000"/>
                  </a:srgbClr>
                </a:solidFill>
                <a:effectLst/>
                <a:uFillTx/>
                <a:latin typeface="Cambria"/>
                <a:ea typeface="Cambria"/>
              </a:rPr>
              <a:t>2</a:t>
            </a:r>
            <a:endParaRPr lang="en-US" sz="3000" b="0" u="none" strike="noStrike">
              <a:solidFill>
                <a:srgbClr val="000000"/>
              </a:solidFill>
              <a:effectLst/>
              <a:uFillTx/>
              <a:latin typeface="Arial"/>
            </a:endParaRPr>
          </a:p>
        </p:txBody>
      </p:sp>
      <p:sp>
        <p:nvSpPr>
          <p:cNvPr id="75" name="Text 9"/>
          <p:cNvSpPr/>
          <p:nvPr/>
        </p:nvSpPr>
        <p:spPr>
          <a:xfrm>
            <a:off x="3593520" y="3200400"/>
            <a:ext cx="214776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Train</a:t>
            </a:r>
            <a:endParaRPr lang="en-US" sz="1700" b="0" u="none" strike="noStrike">
              <a:solidFill>
                <a:srgbClr val="000000"/>
              </a:solidFill>
              <a:effectLst/>
              <a:uFillTx/>
              <a:latin typeface="Arial"/>
            </a:endParaRPr>
          </a:p>
        </p:txBody>
      </p:sp>
      <p:sp>
        <p:nvSpPr>
          <p:cNvPr id="76" name="Text 10"/>
          <p:cNvSpPr/>
          <p:nvPr/>
        </p:nvSpPr>
        <p:spPr>
          <a:xfrm>
            <a:off x="3593520" y="3703320"/>
            <a:ext cx="2147760" cy="146196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200" b="0" u="none" strike="noStrike">
                <a:solidFill>
                  <a:srgbClr val="E8F1F5"/>
                </a:solidFill>
                <a:effectLst/>
                <a:uFillTx/>
                <a:latin typeface="Calibri"/>
                <a:ea typeface="Calibri"/>
              </a:rPr>
              <a:t>Random Forest, XGBoost, SVR — LSTM if time and data allow</a:t>
            </a:r>
            <a:endParaRPr lang="en-US" sz="1200" b="0" u="none" strike="noStrike">
              <a:solidFill>
                <a:srgbClr val="000000"/>
              </a:solidFill>
              <a:effectLst/>
              <a:uFillTx/>
              <a:latin typeface="Arial"/>
            </a:endParaRPr>
          </a:p>
        </p:txBody>
      </p:sp>
      <p:sp>
        <p:nvSpPr>
          <p:cNvPr id="77" name="Text 11"/>
          <p:cNvSpPr/>
          <p:nvPr/>
        </p:nvSpPr>
        <p:spPr>
          <a:xfrm>
            <a:off x="5879520" y="3520440"/>
            <a:ext cx="36468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5B7480"/>
                </a:solidFill>
                <a:effectLst/>
                <a:uFillTx/>
                <a:latin typeface="Calibri"/>
                <a:ea typeface="Calibri"/>
              </a:rPr>
              <a:t>→</a:t>
            </a:r>
            <a:endParaRPr lang="en-US" sz="2200" b="0" u="none" strike="noStrike">
              <a:solidFill>
                <a:srgbClr val="000000"/>
              </a:solidFill>
              <a:effectLst/>
              <a:uFillTx/>
              <a:latin typeface="Arial"/>
            </a:endParaRPr>
          </a:p>
        </p:txBody>
      </p:sp>
      <p:sp>
        <p:nvSpPr>
          <p:cNvPr id="78" name="Shape 12"/>
          <p:cNvSpPr/>
          <p:nvPr/>
        </p:nvSpPr>
        <p:spPr>
          <a:xfrm>
            <a:off x="6181200" y="2286000"/>
            <a:ext cx="2513520" cy="3016440"/>
          </a:xfrm>
          <a:prstGeom prst="roundRect">
            <a:avLst>
              <a:gd name="adj" fmla="val 3636"/>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 name="Text 13"/>
          <p:cNvSpPr/>
          <p:nvPr/>
        </p:nvSpPr>
        <p:spPr>
          <a:xfrm>
            <a:off x="6364080" y="2468880"/>
            <a:ext cx="91332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alpha val="75000"/>
                  </a:srgbClr>
                </a:solidFill>
                <a:effectLst/>
                <a:uFillTx/>
                <a:latin typeface="Cambria"/>
                <a:ea typeface="Cambria"/>
              </a:rPr>
              <a:t>3</a:t>
            </a:r>
            <a:endParaRPr lang="en-US" sz="3000" b="0" u="none" strike="noStrike">
              <a:solidFill>
                <a:srgbClr val="000000"/>
              </a:solidFill>
              <a:effectLst/>
              <a:uFillTx/>
              <a:latin typeface="Arial"/>
            </a:endParaRPr>
          </a:p>
        </p:txBody>
      </p:sp>
      <p:sp>
        <p:nvSpPr>
          <p:cNvPr id="80" name="Text 14"/>
          <p:cNvSpPr/>
          <p:nvPr/>
        </p:nvSpPr>
        <p:spPr>
          <a:xfrm>
            <a:off x="6364080" y="3200400"/>
            <a:ext cx="214776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Evaluate</a:t>
            </a:r>
            <a:endParaRPr lang="en-US" sz="1700" b="0" u="none" strike="noStrike">
              <a:solidFill>
                <a:srgbClr val="000000"/>
              </a:solidFill>
              <a:effectLst/>
              <a:uFillTx/>
              <a:latin typeface="Arial"/>
            </a:endParaRPr>
          </a:p>
        </p:txBody>
      </p:sp>
      <p:sp>
        <p:nvSpPr>
          <p:cNvPr id="81" name="Text 15"/>
          <p:cNvSpPr/>
          <p:nvPr/>
        </p:nvSpPr>
        <p:spPr>
          <a:xfrm>
            <a:off x="6364080" y="3703320"/>
            <a:ext cx="2147760" cy="146196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200" b="0" u="none" strike="noStrike">
                <a:solidFill>
                  <a:srgbClr val="E8F1F5"/>
                </a:solidFill>
                <a:effectLst/>
                <a:uFillTx/>
                <a:latin typeface="Calibri"/>
                <a:ea typeface="Calibri"/>
              </a:rPr>
              <a:t>Compare models with MAE, RMSE, R² on held-out data</a:t>
            </a:r>
            <a:endParaRPr lang="en-US" sz="1200" b="0" u="none" strike="noStrike">
              <a:solidFill>
                <a:srgbClr val="000000"/>
              </a:solidFill>
              <a:effectLst/>
              <a:uFillTx/>
              <a:latin typeface="Arial"/>
            </a:endParaRPr>
          </a:p>
        </p:txBody>
      </p:sp>
      <p:sp>
        <p:nvSpPr>
          <p:cNvPr id="82" name="Text 16"/>
          <p:cNvSpPr/>
          <p:nvPr/>
        </p:nvSpPr>
        <p:spPr>
          <a:xfrm>
            <a:off x="8650080" y="3520440"/>
            <a:ext cx="36468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5B7480"/>
                </a:solidFill>
                <a:effectLst/>
                <a:uFillTx/>
                <a:latin typeface="Calibri"/>
                <a:ea typeface="Calibri"/>
              </a:rPr>
              <a:t>→</a:t>
            </a:r>
            <a:endParaRPr lang="en-US" sz="2200" b="0" u="none" strike="noStrike">
              <a:solidFill>
                <a:srgbClr val="000000"/>
              </a:solidFill>
              <a:effectLst/>
              <a:uFillTx/>
              <a:latin typeface="Arial"/>
            </a:endParaRPr>
          </a:p>
        </p:txBody>
      </p:sp>
      <p:sp>
        <p:nvSpPr>
          <p:cNvPr id="83" name="Shape 17"/>
          <p:cNvSpPr/>
          <p:nvPr/>
        </p:nvSpPr>
        <p:spPr>
          <a:xfrm>
            <a:off x="8952120" y="2286000"/>
            <a:ext cx="2513520" cy="3016440"/>
          </a:xfrm>
          <a:prstGeom prst="roundRect">
            <a:avLst>
              <a:gd name="adj" fmla="val 3636"/>
            </a:avLst>
          </a:prstGeom>
          <a:solidFill>
            <a:srgbClr val="1C729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 name="Text 18"/>
          <p:cNvSpPr/>
          <p:nvPr/>
        </p:nvSpPr>
        <p:spPr>
          <a:xfrm>
            <a:off x="9135000" y="2468880"/>
            <a:ext cx="91332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alpha val="75000"/>
                  </a:srgbClr>
                </a:solidFill>
                <a:effectLst/>
                <a:uFillTx/>
                <a:latin typeface="Cambria"/>
                <a:ea typeface="Cambria"/>
              </a:rPr>
              <a:t>4</a:t>
            </a:r>
            <a:endParaRPr lang="en-US" sz="3000" b="0" u="none" strike="noStrike">
              <a:solidFill>
                <a:srgbClr val="000000"/>
              </a:solidFill>
              <a:effectLst/>
              <a:uFillTx/>
              <a:latin typeface="Arial"/>
            </a:endParaRPr>
          </a:p>
        </p:txBody>
      </p:sp>
      <p:sp>
        <p:nvSpPr>
          <p:cNvPr id="85" name="Text 19"/>
          <p:cNvSpPr/>
          <p:nvPr/>
        </p:nvSpPr>
        <p:spPr>
          <a:xfrm>
            <a:off x="9135000" y="3200400"/>
            <a:ext cx="214776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Predict &amp; Display</a:t>
            </a:r>
            <a:endParaRPr lang="en-US" sz="1700" b="0" u="none" strike="noStrike">
              <a:solidFill>
                <a:srgbClr val="000000"/>
              </a:solidFill>
              <a:effectLst/>
              <a:uFillTx/>
              <a:latin typeface="Arial"/>
            </a:endParaRPr>
          </a:p>
        </p:txBody>
      </p:sp>
      <p:sp>
        <p:nvSpPr>
          <p:cNvPr id="86" name="Text 20"/>
          <p:cNvSpPr/>
          <p:nvPr/>
        </p:nvSpPr>
        <p:spPr>
          <a:xfrm>
            <a:off x="9135000" y="3703320"/>
            <a:ext cx="2147760" cy="1461960"/>
          </a:xfrm>
          <a:prstGeom prst="rect">
            <a:avLst/>
          </a:prstGeom>
          <a:noFill/>
          <a:ln w="0">
            <a:noFill/>
          </a:ln>
        </p:spPr>
        <p:style>
          <a:lnRef idx="0"/>
          <a:fillRef idx="0"/>
          <a:effectRef idx="0"/>
          <a:fontRef idx="minor"/>
        </p:style>
        <p:txBody>
          <a:bodyPr lIns="0" tIns="0" rIns="0" bIns="0" anchor="ctr">
            <a:noAutofit/>
          </a:bodyPr>
          <a:p>
            <a:pPr defTabSz="914400">
              <a:lnSpc>
                <a:spcPct val="125000"/>
              </a:lnSpc>
              <a:tabLst>
                <a:tab pos="0" algn="l"/>
              </a:tabLst>
            </a:pPr>
            <a:r>
              <a:rPr lang="en-US" sz="1200" b="0" u="none" strike="noStrike">
                <a:solidFill>
                  <a:srgbClr val="E8F1F5"/>
                </a:solidFill>
                <a:effectLst/>
                <a:uFillTx/>
                <a:latin typeface="Calibri"/>
                <a:ea typeface="Calibri"/>
              </a:rPr>
              <a:t>Best model forecasts demand; dashboard shows it per zone</a:t>
            </a:r>
            <a:endParaRPr lang="en-US" sz="1200" b="0" u="none" strike="noStrike">
              <a:solidFill>
                <a:srgbClr val="000000"/>
              </a:solidFill>
              <a:effectLst/>
              <a:uFillTx/>
              <a:latin typeface="Arial"/>
            </a:endParaRPr>
          </a:p>
        </p:txBody>
      </p:sp>
      <p:sp>
        <p:nvSpPr>
          <p:cNvPr id="87" name="Text 21"/>
          <p:cNvSpPr/>
          <p:nvPr/>
        </p:nvSpPr>
        <p:spPr>
          <a:xfrm>
            <a:off x="640080" y="5577840"/>
            <a:ext cx="10880280" cy="547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5B7480"/>
                </a:solidFill>
                <a:effectLst/>
                <a:uFillTx/>
                <a:latin typeface="Calibri"/>
                <a:ea typeface="Calibri"/>
              </a:rPr>
              <a:t>Output: predictions for selected urban zones, surfaced through a simple dashboard non-technical planners can read directly.</a:t>
            </a:r>
            <a:endParaRPr lang="en-US" sz="1350" b="0" u="none" strike="noStrike">
              <a:solidFill>
                <a:srgbClr val="000000"/>
              </a:solidFill>
              <a:effectLst/>
              <a:uFillTx/>
              <a:latin typeface="Arial"/>
            </a:endParaRPr>
          </a:p>
        </p:txBody>
      </p:sp>
      <p:sp>
        <p:nvSpPr>
          <p:cNvPr id="88" name="Text 22"/>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295C"/>
        </a:solidFill>
      </p:bgPr>
    </p:bg>
    <p:spTree>
      <p:nvGrpSpPr>
        <p:cNvPr id="1" name=""/>
        <p:cNvGrpSpPr/>
        <p:nvPr/>
      </p:nvGrpSpPr>
      <p:grpSpPr>
        <a:xfrm>
          <a:off x="0" y="0"/>
          <a:ext cx="0" cy="0"/>
          <a:chOff x="0" y="0"/>
          <a:chExt cx="0" cy="0"/>
        </a:xfrm>
      </p:grpSpPr>
      <p:sp>
        <p:nvSpPr>
          <p:cNvPr id="89"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8FC1D9"/>
                </a:solidFill>
                <a:effectLst/>
                <a:uFillTx/>
                <a:latin typeface="Calibri"/>
                <a:ea typeface="Calibri"/>
              </a:rPr>
              <a:t>IN PRACTICE</a:t>
            </a:r>
            <a:endParaRPr lang="en-US" sz="1300" b="0" u="none" strike="noStrike">
              <a:solidFill>
                <a:srgbClr val="FFFFFF"/>
              </a:solidFill>
              <a:effectLst/>
              <a:uFillTx/>
              <a:latin typeface="Arial"/>
            </a:endParaRPr>
          </a:p>
        </p:txBody>
      </p:sp>
      <p:sp>
        <p:nvSpPr>
          <p:cNvPr id="90"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Cambria"/>
                <a:ea typeface="Cambria"/>
              </a:rPr>
              <a:t>What a planner would actually see</a:t>
            </a:r>
            <a:endParaRPr lang="en-US" sz="2800" b="0" u="none" strike="noStrike">
              <a:solidFill>
                <a:srgbClr val="FFFFFF"/>
              </a:solidFill>
              <a:effectLst/>
              <a:uFillTx/>
              <a:latin typeface="Arial"/>
            </a:endParaRPr>
          </a:p>
        </p:txBody>
      </p:sp>
      <p:sp>
        <p:nvSpPr>
          <p:cNvPr id="91" name="Text 2"/>
          <p:cNvSpPr/>
          <p:nvPr/>
        </p:nvSpPr>
        <p:spPr>
          <a:xfrm>
            <a:off x="640080" y="1691640"/>
            <a:ext cx="7314120" cy="45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F1F5"/>
                </a:solidFill>
                <a:effectLst/>
                <a:uFillTx/>
                <a:latin typeface="Calibri"/>
                <a:ea typeface="Calibri"/>
              </a:rPr>
              <a:t>Tomorrow's forecast, two selected zones:</a:t>
            </a:r>
            <a:endParaRPr lang="en-US" sz="1500" b="0" u="none" strike="noStrike">
              <a:solidFill>
                <a:srgbClr val="FFFFFF"/>
              </a:solidFill>
              <a:effectLst/>
              <a:uFillTx/>
              <a:latin typeface="Arial"/>
            </a:endParaRPr>
          </a:p>
        </p:txBody>
      </p:sp>
      <p:sp>
        <p:nvSpPr>
          <p:cNvPr id="92" name="Shape 3"/>
          <p:cNvSpPr/>
          <p:nvPr/>
        </p:nvSpPr>
        <p:spPr>
          <a:xfrm>
            <a:off x="822960" y="2377440"/>
            <a:ext cx="5028120" cy="3199320"/>
          </a:xfrm>
          <a:prstGeom prst="roundRect">
            <a:avLst>
              <a:gd name="adj" fmla="val 3429"/>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 name="Text 4"/>
          <p:cNvSpPr/>
          <p:nvPr/>
        </p:nvSpPr>
        <p:spPr>
          <a:xfrm>
            <a:off x="1188720" y="2697480"/>
            <a:ext cx="36565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8FC1D9"/>
                </a:solidFill>
                <a:effectLst/>
                <a:uFillTx/>
                <a:latin typeface="Calibri"/>
                <a:ea typeface="Calibri"/>
              </a:rPr>
              <a:t>ZONE A</a:t>
            </a:r>
            <a:endParaRPr lang="en-US" sz="1400" b="0" u="none" strike="noStrike">
              <a:solidFill>
                <a:srgbClr val="FFFFFF"/>
              </a:solidFill>
              <a:effectLst/>
              <a:uFillTx/>
              <a:latin typeface="Arial"/>
            </a:endParaRPr>
          </a:p>
        </p:txBody>
      </p:sp>
      <p:sp>
        <p:nvSpPr>
          <p:cNvPr id="94" name="Text 5"/>
          <p:cNvSpPr/>
          <p:nvPr/>
        </p:nvSpPr>
        <p:spPr>
          <a:xfrm>
            <a:off x="1188720" y="3063240"/>
            <a:ext cx="4113720" cy="100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200" b="1" u="none" strike="noStrike">
                <a:solidFill>
                  <a:srgbClr val="FFFFFF"/>
                </a:solidFill>
                <a:effectLst/>
                <a:uFillTx/>
                <a:latin typeface="Cambria"/>
                <a:ea typeface="Cambria"/>
              </a:rPr>
              <a:t>18,500</a:t>
            </a:r>
            <a:endParaRPr lang="en-US" sz="6200" b="0" u="none" strike="noStrike">
              <a:solidFill>
                <a:srgbClr val="FFFFFF"/>
              </a:solidFill>
              <a:effectLst/>
              <a:uFillTx/>
              <a:latin typeface="Arial"/>
            </a:endParaRPr>
          </a:p>
        </p:txBody>
      </p:sp>
      <p:sp>
        <p:nvSpPr>
          <p:cNvPr id="95" name="Text 6"/>
          <p:cNvSpPr/>
          <p:nvPr/>
        </p:nvSpPr>
        <p:spPr>
          <a:xfrm>
            <a:off x="1188720" y="4114800"/>
            <a:ext cx="36565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E8F1F5"/>
                </a:solidFill>
                <a:effectLst/>
                <a:uFillTx/>
                <a:latin typeface="Calibri"/>
                <a:ea typeface="Calibri"/>
              </a:rPr>
              <a:t>m³ predicted demand</a:t>
            </a:r>
            <a:endParaRPr lang="en-US" sz="1400" b="0" u="none" strike="noStrike">
              <a:solidFill>
                <a:srgbClr val="FFFFFF"/>
              </a:solidFill>
              <a:effectLst/>
              <a:uFillTx/>
              <a:latin typeface="Arial"/>
            </a:endParaRPr>
          </a:p>
        </p:txBody>
      </p:sp>
      <p:sp>
        <p:nvSpPr>
          <p:cNvPr id="96" name="Text 7"/>
          <p:cNvSpPr/>
          <p:nvPr/>
        </p:nvSpPr>
        <p:spPr>
          <a:xfrm>
            <a:off x="1188720" y="4754880"/>
            <a:ext cx="420516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200" b="0" i="1" u="none" strike="noStrike">
                <a:solidFill>
                  <a:srgbClr val="BEE3F0"/>
                </a:solidFill>
                <a:effectLst/>
                <a:uFillTx/>
                <a:latin typeface="Calibri"/>
                <a:ea typeface="Calibri"/>
              </a:rPr>
              <a:t>Higher-than-average — flagged for priority allocation</a:t>
            </a:r>
            <a:endParaRPr lang="en-US" sz="1200" b="0" u="none" strike="noStrike">
              <a:solidFill>
                <a:srgbClr val="FFFFFF"/>
              </a:solidFill>
              <a:effectLst/>
              <a:uFillTx/>
              <a:latin typeface="Arial"/>
            </a:endParaRPr>
          </a:p>
        </p:txBody>
      </p:sp>
      <p:sp>
        <p:nvSpPr>
          <p:cNvPr id="97" name="Shape 8"/>
          <p:cNvSpPr/>
          <p:nvPr/>
        </p:nvSpPr>
        <p:spPr>
          <a:xfrm>
            <a:off x="6309360" y="2377440"/>
            <a:ext cx="5028120" cy="3199320"/>
          </a:xfrm>
          <a:prstGeom prst="roundRect">
            <a:avLst>
              <a:gd name="adj" fmla="val 3429"/>
            </a:avLst>
          </a:prstGeom>
          <a:solidFill>
            <a:srgbClr val="1C729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8" name="Text 9"/>
          <p:cNvSpPr/>
          <p:nvPr/>
        </p:nvSpPr>
        <p:spPr>
          <a:xfrm>
            <a:off x="6675120" y="2697480"/>
            <a:ext cx="36565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D6F0EA"/>
                </a:solidFill>
                <a:effectLst/>
                <a:uFillTx/>
                <a:latin typeface="Calibri"/>
                <a:ea typeface="Calibri"/>
              </a:rPr>
              <a:t>ZONE B</a:t>
            </a:r>
            <a:endParaRPr lang="en-US" sz="1400" b="0" u="none" strike="noStrike">
              <a:solidFill>
                <a:srgbClr val="FFFFFF"/>
              </a:solidFill>
              <a:effectLst/>
              <a:uFillTx/>
              <a:latin typeface="Arial"/>
            </a:endParaRPr>
          </a:p>
        </p:txBody>
      </p:sp>
      <p:sp>
        <p:nvSpPr>
          <p:cNvPr id="99" name="Text 10"/>
          <p:cNvSpPr/>
          <p:nvPr/>
        </p:nvSpPr>
        <p:spPr>
          <a:xfrm>
            <a:off x="6675120" y="3063240"/>
            <a:ext cx="4113720" cy="100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200" b="1" u="none" strike="noStrike">
                <a:solidFill>
                  <a:srgbClr val="FFFFFF"/>
                </a:solidFill>
                <a:effectLst/>
                <a:uFillTx/>
                <a:latin typeface="Cambria"/>
                <a:ea typeface="Cambria"/>
              </a:rPr>
              <a:t>12,300</a:t>
            </a:r>
            <a:endParaRPr lang="en-US" sz="6200" b="0" u="none" strike="noStrike">
              <a:solidFill>
                <a:srgbClr val="FFFFFF"/>
              </a:solidFill>
              <a:effectLst/>
              <a:uFillTx/>
              <a:latin typeface="Arial"/>
            </a:endParaRPr>
          </a:p>
        </p:txBody>
      </p:sp>
      <p:sp>
        <p:nvSpPr>
          <p:cNvPr id="100" name="Text 11"/>
          <p:cNvSpPr/>
          <p:nvPr/>
        </p:nvSpPr>
        <p:spPr>
          <a:xfrm>
            <a:off x="6675120" y="4114800"/>
            <a:ext cx="36565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E8F1F5"/>
                </a:solidFill>
                <a:effectLst/>
                <a:uFillTx/>
                <a:latin typeface="Calibri"/>
                <a:ea typeface="Calibri"/>
              </a:rPr>
              <a:t>m³ predicted demand</a:t>
            </a:r>
            <a:endParaRPr lang="en-US" sz="1400" b="0" u="none" strike="noStrike">
              <a:solidFill>
                <a:srgbClr val="FFFFFF"/>
              </a:solidFill>
              <a:effectLst/>
              <a:uFillTx/>
              <a:latin typeface="Arial"/>
            </a:endParaRPr>
          </a:p>
        </p:txBody>
      </p:sp>
      <p:sp>
        <p:nvSpPr>
          <p:cNvPr id="101" name="Text 12"/>
          <p:cNvSpPr/>
          <p:nvPr/>
        </p:nvSpPr>
        <p:spPr>
          <a:xfrm>
            <a:off x="6675120" y="4754880"/>
            <a:ext cx="420516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200" b="0" i="1" u="none" strike="noStrike">
                <a:solidFill>
                  <a:srgbClr val="D6F0EA"/>
                </a:solidFill>
                <a:effectLst/>
                <a:uFillTx/>
                <a:latin typeface="Calibri"/>
                <a:ea typeface="Calibri"/>
              </a:rPr>
              <a:t>Within normal range — standard allocation</a:t>
            </a:r>
            <a:endParaRPr lang="en-US" sz="1200" b="0" u="none" strike="noStrike">
              <a:solidFill>
                <a:srgbClr val="FFFFFF"/>
              </a:solidFill>
              <a:effectLst/>
              <a:uFillTx/>
              <a:latin typeface="Arial"/>
            </a:endParaRPr>
          </a:p>
        </p:txBody>
      </p:sp>
      <p:sp>
        <p:nvSpPr>
          <p:cNvPr id="102" name="Text 13"/>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DATA</a:t>
            </a:r>
            <a:endParaRPr lang="en-US" sz="1300" b="0" u="none" strike="noStrike">
              <a:solidFill>
                <a:srgbClr val="000000"/>
              </a:solidFill>
              <a:effectLst/>
              <a:uFillTx/>
              <a:latin typeface="Arial"/>
            </a:endParaRPr>
          </a:p>
        </p:txBody>
      </p:sp>
      <p:sp>
        <p:nvSpPr>
          <p:cNvPr id="104"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What the model needs to learn from</a:t>
            </a:r>
            <a:endParaRPr lang="en-US" sz="2800" b="0" u="none" strike="noStrike">
              <a:solidFill>
                <a:srgbClr val="000000"/>
              </a:solidFill>
              <a:effectLst/>
              <a:uFillTx/>
              <a:latin typeface="Arial"/>
            </a:endParaRPr>
          </a:p>
        </p:txBody>
      </p:sp>
      <p:sp>
        <p:nvSpPr>
          <p:cNvPr id="105" name="Shape 2"/>
          <p:cNvSpPr/>
          <p:nvPr/>
        </p:nvSpPr>
        <p:spPr>
          <a:xfrm>
            <a:off x="640080" y="187452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Shape 3"/>
          <p:cNvSpPr/>
          <p:nvPr/>
        </p:nvSpPr>
        <p:spPr>
          <a:xfrm>
            <a:off x="841320" y="22219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 name="Text 4"/>
          <p:cNvSpPr/>
          <p:nvPr/>
        </p:nvSpPr>
        <p:spPr>
          <a:xfrm>
            <a:off x="1417320" y="187452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Zone / area</a:t>
            </a:r>
            <a:endParaRPr lang="en-US" sz="1400" b="0" u="none" strike="noStrike">
              <a:solidFill>
                <a:srgbClr val="000000"/>
              </a:solidFill>
              <a:effectLst/>
              <a:uFillTx/>
              <a:latin typeface="Arial"/>
            </a:endParaRPr>
          </a:p>
        </p:txBody>
      </p:sp>
      <p:sp>
        <p:nvSpPr>
          <p:cNvPr id="108" name="Shape 5"/>
          <p:cNvSpPr/>
          <p:nvPr/>
        </p:nvSpPr>
        <p:spPr>
          <a:xfrm>
            <a:off x="4325040" y="187452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Shape 6"/>
          <p:cNvSpPr/>
          <p:nvPr/>
        </p:nvSpPr>
        <p:spPr>
          <a:xfrm>
            <a:off x="4526280" y="22219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 name="Text 7"/>
          <p:cNvSpPr/>
          <p:nvPr/>
        </p:nvSpPr>
        <p:spPr>
          <a:xfrm>
            <a:off x="5102280" y="187452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Date &amp; day of week</a:t>
            </a:r>
            <a:endParaRPr lang="en-US" sz="1400" b="0" u="none" strike="noStrike">
              <a:solidFill>
                <a:srgbClr val="000000"/>
              </a:solidFill>
              <a:effectLst/>
              <a:uFillTx/>
              <a:latin typeface="Arial"/>
            </a:endParaRPr>
          </a:p>
        </p:txBody>
      </p:sp>
      <p:sp>
        <p:nvSpPr>
          <p:cNvPr id="111" name="Shape 8"/>
          <p:cNvSpPr/>
          <p:nvPr/>
        </p:nvSpPr>
        <p:spPr>
          <a:xfrm>
            <a:off x="8010000" y="187452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Shape 9"/>
          <p:cNvSpPr/>
          <p:nvPr/>
        </p:nvSpPr>
        <p:spPr>
          <a:xfrm>
            <a:off x="8211240" y="22219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Text 10"/>
          <p:cNvSpPr/>
          <p:nvPr/>
        </p:nvSpPr>
        <p:spPr>
          <a:xfrm>
            <a:off x="8787240" y="187452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Water demand &amp; supplied</a:t>
            </a:r>
            <a:endParaRPr lang="en-US" sz="1400" b="0" u="none" strike="noStrike">
              <a:solidFill>
                <a:srgbClr val="000000"/>
              </a:solidFill>
              <a:effectLst/>
              <a:uFillTx/>
              <a:latin typeface="Arial"/>
            </a:endParaRPr>
          </a:p>
        </p:txBody>
      </p:sp>
      <p:sp>
        <p:nvSpPr>
          <p:cNvPr id="114" name="Shape 11"/>
          <p:cNvSpPr/>
          <p:nvPr/>
        </p:nvSpPr>
        <p:spPr>
          <a:xfrm>
            <a:off x="640080" y="318204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Shape 12"/>
          <p:cNvSpPr/>
          <p:nvPr/>
        </p:nvSpPr>
        <p:spPr>
          <a:xfrm>
            <a:off x="841320" y="352944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6" name="Text 13"/>
          <p:cNvSpPr/>
          <p:nvPr/>
        </p:nvSpPr>
        <p:spPr>
          <a:xfrm>
            <a:off x="1417320" y="318204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Number of connections</a:t>
            </a:r>
            <a:endParaRPr lang="en-US" sz="1400" b="0" u="none" strike="noStrike">
              <a:solidFill>
                <a:srgbClr val="000000"/>
              </a:solidFill>
              <a:effectLst/>
              <a:uFillTx/>
              <a:latin typeface="Arial"/>
            </a:endParaRPr>
          </a:p>
        </p:txBody>
      </p:sp>
      <p:sp>
        <p:nvSpPr>
          <p:cNvPr id="117" name="Shape 14"/>
          <p:cNvSpPr/>
          <p:nvPr/>
        </p:nvSpPr>
        <p:spPr>
          <a:xfrm>
            <a:off x="4325040" y="318204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 name="Shape 15"/>
          <p:cNvSpPr/>
          <p:nvPr/>
        </p:nvSpPr>
        <p:spPr>
          <a:xfrm>
            <a:off x="4526280" y="352944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9" name="Text 16"/>
          <p:cNvSpPr/>
          <p:nvPr/>
        </p:nvSpPr>
        <p:spPr>
          <a:xfrm>
            <a:off x="5102280" y="318204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Population estimate</a:t>
            </a:r>
            <a:endParaRPr lang="en-US" sz="1400" b="0" u="none" strike="noStrike">
              <a:solidFill>
                <a:srgbClr val="000000"/>
              </a:solidFill>
              <a:effectLst/>
              <a:uFillTx/>
              <a:latin typeface="Arial"/>
            </a:endParaRPr>
          </a:p>
        </p:txBody>
      </p:sp>
      <p:sp>
        <p:nvSpPr>
          <p:cNvPr id="120" name="Shape 17"/>
          <p:cNvSpPr/>
          <p:nvPr/>
        </p:nvSpPr>
        <p:spPr>
          <a:xfrm>
            <a:off x="8010000" y="318204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1" name="Shape 18"/>
          <p:cNvSpPr/>
          <p:nvPr/>
        </p:nvSpPr>
        <p:spPr>
          <a:xfrm>
            <a:off x="8211240" y="352944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 name="Text 19"/>
          <p:cNvSpPr/>
          <p:nvPr/>
        </p:nvSpPr>
        <p:spPr>
          <a:xfrm>
            <a:off x="8787240" y="318204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Rainfall &amp; temperature</a:t>
            </a:r>
            <a:endParaRPr lang="en-US" sz="1400" b="0" u="none" strike="noStrike">
              <a:solidFill>
                <a:srgbClr val="000000"/>
              </a:solidFill>
              <a:effectLst/>
              <a:uFillTx/>
              <a:latin typeface="Arial"/>
            </a:endParaRPr>
          </a:p>
        </p:txBody>
      </p:sp>
      <p:sp>
        <p:nvSpPr>
          <p:cNvPr id="123" name="Shape 20"/>
          <p:cNvSpPr/>
          <p:nvPr/>
        </p:nvSpPr>
        <p:spPr>
          <a:xfrm>
            <a:off x="640080" y="448956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4" name="Shape 21"/>
          <p:cNvSpPr/>
          <p:nvPr/>
        </p:nvSpPr>
        <p:spPr>
          <a:xfrm>
            <a:off x="841320" y="48373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Text 22"/>
          <p:cNvSpPr/>
          <p:nvPr/>
        </p:nvSpPr>
        <p:spPr>
          <a:xfrm>
            <a:off x="1417320" y="448956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Season / month</a:t>
            </a:r>
            <a:endParaRPr lang="en-US" sz="1400" b="0" u="none" strike="noStrike">
              <a:solidFill>
                <a:srgbClr val="000000"/>
              </a:solidFill>
              <a:effectLst/>
              <a:uFillTx/>
              <a:latin typeface="Arial"/>
            </a:endParaRPr>
          </a:p>
        </p:txBody>
      </p:sp>
      <p:sp>
        <p:nvSpPr>
          <p:cNvPr id="126" name="Shape 23"/>
          <p:cNvSpPr/>
          <p:nvPr/>
        </p:nvSpPr>
        <p:spPr>
          <a:xfrm>
            <a:off x="4325040" y="448956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7" name="Shape 24"/>
          <p:cNvSpPr/>
          <p:nvPr/>
        </p:nvSpPr>
        <p:spPr>
          <a:xfrm>
            <a:off x="4526280" y="48373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8" name="Text 25"/>
          <p:cNvSpPr/>
          <p:nvPr/>
        </p:nvSpPr>
        <p:spPr>
          <a:xfrm>
            <a:off x="5102280" y="448956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Holiday indicator</a:t>
            </a:r>
            <a:endParaRPr lang="en-US" sz="1400" b="0" u="none" strike="noStrike">
              <a:solidFill>
                <a:srgbClr val="000000"/>
              </a:solidFill>
              <a:effectLst/>
              <a:uFillTx/>
              <a:latin typeface="Arial"/>
            </a:endParaRPr>
          </a:p>
        </p:txBody>
      </p:sp>
      <p:sp>
        <p:nvSpPr>
          <p:cNvPr id="129" name="Shape 26"/>
          <p:cNvSpPr/>
          <p:nvPr/>
        </p:nvSpPr>
        <p:spPr>
          <a:xfrm>
            <a:off x="8010000" y="4489560"/>
            <a:ext cx="3427920" cy="1050480"/>
          </a:xfrm>
          <a:prstGeom prst="roundRect">
            <a:avLst>
              <a:gd name="adj" fmla="val 8696"/>
            </a:avLst>
          </a:prstGeom>
          <a:solidFill>
            <a:srgbClr val="E8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 name="Shape 27"/>
          <p:cNvSpPr/>
          <p:nvPr/>
        </p:nvSpPr>
        <p:spPr>
          <a:xfrm>
            <a:off x="8211240" y="4837320"/>
            <a:ext cx="364680" cy="364680"/>
          </a:xfrm>
          <a:prstGeom prst="ellipse">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Text 28"/>
          <p:cNvSpPr/>
          <p:nvPr/>
        </p:nvSpPr>
        <p:spPr>
          <a:xfrm>
            <a:off x="8787240" y="4489560"/>
            <a:ext cx="2467800" cy="1050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A2B33"/>
                </a:solidFill>
                <a:effectLst/>
                <a:uFillTx/>
                <a:latin typeface="Calibri"/>
                <a:ea typeface="Calibri"/>
              </a:rPr>
              <a:t>Previous supply levels</a:t>
            </a:r>
            <a:endParaRPr lang="en-US" sz="1400" b="0" u="none" strike="noStrike">
              <a:solidFill>
                <a:srgbClr val="000000"/>
              </a:solidFill>
              <a:effectLst/>
              <a:uFillTx/>
              <a:latin typeface="Arial"/>
            </a:endParaRPr>
          </a:p>
        </p:txBody>
      </p:sp>
      <p:sp>
        <p:nvSpPr>
          <p:cNvPr id="132" name="Text 29"/>
          <p:cNvSpPr/>
          <p:nvPr/>
        </p:nvSpPr>
        <p:spPr>
          <a:xfrm>
            <a:off x="640080" y="5806440"/>
            <a:ext cx="1088028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300" b="0" i="1" u="none" strike="noStrike">
                <a:solidFill>
                  <a:srgbClr val="5B7480"/>
                </a:solidFill>
                <a:effectLst/>
                <a:uFillTx/>
                <a:latin typeface="Calibri"/>
                <a:ea typeface="Calibri"/>
              </a:rPr>
              <a:t>Sources: public water and weather datasets, demographic data, and — where available — anonymized utility records. Detailed, Rwanda-specific zone-level data is the open question.</a:t>
            </a:r>
            <a:endParaRPr lang="en-US" sz="1300" b="0" u="none" strike="noStrike">
              <a:solidFill>
                <a:srgbClr val="000000"/>
              </a:solidFill>
              <a:effectLst/>
              <a:uFillTx/>
              <a:latin typeface="Arial"/>
            </a:endParaRPr>
          </a:p>
        </p:txBody>
      </p:sp>
      <p:sp>
        <p:nvSpPr>
          <p:cNvPr id="133" name="Text 30"/>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SUCCESS CRITERIA</a:t>
            </a:r>
            <a:endParaRPr lang="en-US" sz="1300" b="0" u="none" strike="noStrike">
              <a:solidFill>
                <a:srgbClr val="000000"/>
              </a:solidFill>
              <a:effectLst/>
              <a:uFillTx/>
              <a:latin typeface="Arial"/>
            </a:endParaRPr>
          </a:p>
        </p:txBody>
      </p:sp>
      <p:sp>
        <p:nvSpPr>
          <p:cNvPr id="135"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What "working" looks like</a:t>
            </a:r>
            <a:endParaRPr lang="en-US" sz="2800" b="0" u="none" strike="noStrike">
              <a:solidFill>
                <a:srgbClr val="000000"/>
              </a:solidFill>
              <a:effectLst/>
              <a:uFillTx/>
              <a:latin typeface="Arial"/>
            </a:endParaRPr>
          </a:p>
        </p:txBody>
      </p:sp>
      <p:sp>
        <p:nvSpPr>
          <p:cNvPr id="136" name="Shape 2"/>
          <p:cNvSpPr/>
          <p:nvPr/>
        </p:nvSpPr>
        <p:spPr>
          <a:xfrm>
            <a:off x="640080" y="187452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Shape 3"/>
          <p:cNvSpPr/>
          <p:nvPr/>
        </p:nvSpPr>
        <p:spPr>
          <a:xfrm>
            <a:off x="804600" y="221760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8" name="Text 4"/>
          <p:cNvSpPr/>
          <p:nvPr/>
        </p:nvSpPr>
        <p:spPr>
          <a:xfrm>
            <a:off x="804600" y="221760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39" name="Text 5"/>
          <p:cNvSpPr/>
          <p:nvPr/>
        </p:nvSpPr>
        <p:spPr>
          <a:xfrm>
            <a:off x="1325880" y="187452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Processes historical zone-level demand data</a:t>
            </a:r>
            <a:endParaRPr lang="en-US" sz="1350" b="0" u="none" strike="noStrike">
              <a:solidFill>
                <a:srgbClr val="000000"/>
              </a:solidFill>
              <a:effectLst/>
              <a:uFillTx/>
              <a:latin typeface="Arial"/>
            </a:endParaRPr>
          </a:p>
        </p:txBody>
      </p:sp>
      <p:sp>
        <p:nvSpPr>
          <p:cNvPr id="140" name="Shape 6"/>
          <p:cNvSpPr/>
          <p:nvPr/>
        </p:nvSpPr>
        <p:spPr>
          <a:xfrm>
            <a:off x="640080" y="315468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Shape 7"/>
          <p:cNvSpPr/>
          <p:nvPr/>
        </p:nvSpPr>
        <p:spPr>
          <a:xfrm>
            <a:off x="804600" y="349776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2" name="Text 8"/>
          <p:cNvSpPr/>
          <p:nvPr/>
        </p:nvSpPr>
        <p:spPr>
          <a:xfrm>
            <a:off x="804600" y="34977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43" name="Text 9"/>
          <p:cNvSpPr/>
          <p:nvPr/>
        </p:nvSpPr>
        <p:spPr>
          <a:xfrm>
            <a:off x="1325880" y="315468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Predicts demand with measurable accuracy (MAE, RMSE, R²) on test data</a:t>
            </a:r>
            <a:endParaRPr lang="en-US" sz="1350" b="0" u="none" strike="noStrike">
              <a:solidFill>
                <a:srgbClr val="000000"/>
              </a:solidFill>
              <a:effectLst/>
              <a:uFillTx/>
              <a:latin typeface="Arial"/>
            </a:endParaRPr>
          </a:p>
        </p:txBody>
      </p:sp>
      <p:sp>
        <p:nvSpPr>
          <p:cNvPr id="144" name="Shape 10"/>
          <p:cNvSpPr/>
          <p:nvPr/>
        </p:nvSpPr>
        <p:spPr>
          <a:xfrm>
            <a:off x="640080" y="443484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Shape 11"/>
          <p:cNvSpPr/>
          <p:nvPr/>
        </p:nvSpPr>
        <p:spPr>
          <a:xfrm>
            <a:off x="804600" y="477792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6" name="Text 12"/>
          <p:cNvSpPr/>
          <p:nvPr/>
        </p:nvSpPr>
        <p:spPr>
          <a:xfrm>
            <a:off x="804600" y="477792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47" name="Text 13"/>
          <p:cNvSpPr/>
          <p:nvPr/>
        </p:nvSpPr>
        <p:spPr>
          <a:xfrm>
            <a:off x="1325880" y="443484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Forecasts and compares demand across selected zones</a:t>
            </a:r>
            <a:endParaRPr lang="en-US" sz="1350" b="0" u="none" strike="noStrike">
              <a:solidFill>
                <a:srgbClr val="000000"/>
              </a:solidFill>
              <a:effectLst/>
              <a:uFillTx/>
              <a:latin typeface="Arial"/>
            </a:endParaRPr>
          </a:p>
        </p:txBody>
      </p:sp>
      <p:sp>
        <p:nvSpPr>
          <p:cNvPr id="148" name="Shape 14"/>
          <p:cNvSpPr/>
          <p:nvPr/>
        </p:nvSpPr>
        <p:spPr>
          <a:xfrm>
            <a:off x="6309360" y="187452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Shape 15"/>
          <p:cNvSpPr/>
          <p:nvPr/>
        </p:nvSpPr>
        <p:spPr>
          <a:xfrm>
            <a:off x="6473880" y="221760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0" name="Text 16"/>
          <p:cNvSpPr/>
          <p:nvPr/>
        </p:nvSpPr>
        <p:spPr>
          <a:xfrm>
            <a:off x="6473880" y="221760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51" name="Text 17"/>
          <p:cNvSpPr/>
          <p:nvPr/>
        </p:nvSpPr>
        <p:spPr>
          <a:xfrm>
            <a:off x="6995160" y="187452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Surfaces predictions clearly through a dashboard</a:t>
            </a:r>
            <a:endParaRPr lang="en-US" sz="1350" b="0" u="none" strike="noStrike">
              <a:solidFill>
                <a:srgbClr val="000000"/>
              </a:solidFill>
              <a:effectLst/>
              <a:uFillTx/>
              <a:latin typeface="Arial"/>
            </a:endParaRPr>
          </a:p>
        </p:txBody>
      </p:sp>
      <p:sp>
        <p:nvSpPr>
          <p:cNvPr id="152" name="Shape 18"/>
          <p:cNvSpPr/>
          <p:nvPr/>
        </p:nvSpPr>
        <p:spPr>
          <a:xfrm>
            <a:off x="6309360" y="315468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Shape 19"/>
          <p:cNvSpPr/>
          <p:nvPr/>
        </p:nvSpPr>
        <p:spPr>
          <a:xfrm>
            <a:off x="6473880" y="349776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20"/>
          <p:cNvSpPr/>
          <p:nvPr/>
        </p:nvSpPr>
        <p:spPr>
          <a:xfrm>
            <a:off x="6473880" y="34977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55" name="Text 21"/>
          <p:cNvSpPr/>
          <p:nvPr/>
        </p:nvSpPr>
        <p:spPr>
          <a:xfrm>
            <a:off x="6995160" y="315468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Explains major drivers behind each prediction</a:t>
            </a:r>
            <a:endParaRPr lang="en-US" sz="1350" b="0" u="none" strike="noStrike">
              <a:solidFill>
                <a:srgbClr val="000000"/>
              </a:solidFill>
              <a:effectLst/>
              <a:uFillTx/>
              <a:latin typeface="Arial"/>
            </a:endParaRPr>
          </a:p>
        </p:txBody>
      </p:sp>
      <p:sp>
        <p:nvSpPr>
          <p:cNvPr id="156" name="Shape 22"/>
          <p:cNvSpPr/>
          <p:nvPr/>
        </p:nvSpPr>
        <p:spPr>
          <a:xfrm>
            <a:off x="6309360" y="4434840"/>
            <a:ext cx="5211000" cy="1050480"/>
          </a:xfrm>
          <a:prstGeom prst="roundRect">
            <a:avLst>
              <a:gd name="adj" fmla="val 695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7" name="Shape 23"/>
          <p:cNvSpPr/>
          <p:nvPr/>
        </p:nvSpPr>
        <p:spPr>
          <a:xfrm>
            <a:off x="6473880" y="4777920"/>
            <a:ext cx="364680" cy="364680"/>
          </a:xfrm>
          <a:prstGeom prst="roundRect">
            <a:avLst>
              <a:gd name="adj" fmla="val 15000"/>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 name="Text 24"/>
          <p:cNvSpPr/>
          <p:nvPr/>
        </p:nvSpPr>
        <p:spPr>
          <a:xfrm>
            <a:off x="6473880" y="477792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159" name="Text 25"/>
          <p:cNvSpPr/>
          <p:nvPr/>
        </p:nvSpPr>
        <p:spPr>
          <a:xfrm>
            <a:off x="6995160" y="4434840"/>
            <a:ext cx="4342320" cy="105048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350" b="0" u="none" strike="noStrike">
                <a:solidFill>
                  <a:srgbClr val="1A2B33"/>
                </a:solidFill>
                <a:effectLst/>
                <a:uFillTx/>
                <a:latin typeface="Calibri"/>
                <a:ea typeface="Calibri"/>
              </a:rPr>
              <a:t>Usable end-to-end by a non-technical planner</a:t>
            </a:r>
            <a:endParaRPr lang="en-US" sz="1350" b="0" u="none" strike="noStrike">
              <a:solidFill>
                <a:srgbClr val="000000"/>
              </a:solidFill>
              <a:effectLst/>
              <a:uFillTx/>
              <a:latin typeface="Arial"/>
            </a:endParaRPr>
          </a:p>
        </p:txBody>
      </p:sp>
      <p:sp>
        <p:nvSpPr>
          <p:cNvPr id="160" name="Text 26"/>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Text 0"/>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1C7293"/>
                </a:solidFill>
                <a:effectLst/>
                <a:uFillTx/>
                <a:latin typeface="Calibri"/>
                <a:ea typeface="Calibri"/>
              </a:rPr>
              <a:t>SCOPE</a:t>
            </a:r>
            <a:endParaRPr lang="en-US" sz="1300" b="0" u="none" strike="noStrike">
              <a:solidFill>
                <a:srgbClr val="000000"/>
              </a:solidFill>
              <a:effectLst/>
              <a:uFillTx/>
              <a:latin typeface="Arial"/>
            </a:endParaRPr>
          </a:p>
        </p:txBody>
      </p:sp>
      <p:sp>
        <p:nvSpPr>
          <p:cNvPr id="162" name="Text 1"/>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1A2B33"/>
                </a:solidFill>
                <a:effectLst/>
                <a:uFillTx/>
                <a:latin typeface="Cambria"/>
                <a:ea typeface="Cambria"/>
              </a:rPr>
              <a:t>Deliberately narrow, for a project that finishes</a:t>
            </a:r>
            <a:endParaRPr lang="en-US" sz="2800" b="0" u="none" strike="noStrike">
              <a:solidFill>
                <a:srgbClr val="000000"/>
              </a:solidFill>
              <a:effectLst/>
              <a:uFillTx/>
              <a:latin typeface="Arial"/>
            </a:endParaRPr>
          </a:p>
        </p:txBody>
      </p:sp>
      <p:sp>
        <p:nvSpPr>
          <p:cNvPr id="163" name="Shape 2"/>
          <p:cNvSpPr/>
          <p:nvPr/>
        </p:nvSpPr>
        <p:spPr>
          <a:xfrm>
            <a:off x="640080" y="1874520"/>
            <a:ext cx="5211000" cy="4068000"/>
          </a:xfrm>
          <a:prstGeom prst="roundRect">
            <a:avLst>
              <a:gd name="adj" fmla="val 2697"/>
            </a:avLst>
          </a:prstGeom>
          <a:solidFill>
            <a:srgbClr val="065A8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3"/>
          <p:cNvSpPr/>
          <p:nvPr/>
        </p:nvSpPr>
        <p:spPr>
          <a:xfrm>
            <a:off x="1005840" y="214884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8FC1D9"/>
                </a:solidFill>
                <a:effectLst/>
                <a:uFillTx/>
                <a:latin typeface="Calibri"/>
                <a:ea typeface="Calibri"/>
              </a:rPr>
              <a:t>IN SCOPE</a:t>
            </a:r>
            <a:endParaRPr lang="en-US" sz="1300" b="0" u="none" strike="noStrike">
              <a:solidFill>
                <a:srgbClr val="000000"/>
              </a:solidFill>
              <a:effectLst/>
              <a:uFillTx/>
              <a:latin typeface="Arial"/>
            </a:endParaRPr>
          </a:p>
        </p:txBody>
      </p:sp>
      <p:sp>
        <p:nvSpPr>
          <p:cNvPr id="165" name="Text 4"/>
          <p:cNvSpPr/>
          <p:nvPr/>
        </p:nvSpPr>
        <p:spPr>
          <a:xfrm>
            <a:off x="1005840" y="2651760"/>
            <a:ext cx="447948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FFFFFF"/>
                </a:solidFill>
                <a:effectLst/>
                <a:uFillTx/>
                <a:latin typeface="Calibri"/>
                <a:ea typeface="Calibri"/>
              </a:rPr>
              <a:t>＋  </a:t>
            </a:r>
            <a:r>
              <a:rPr lang="en-US" sz="1450" b="0" u="none" strike="noStrike">
                <a:solidFill>
                  <a:srgbClr val="FFFFFF"/>
                </a:solidFill>
                <a:effectLst/>
                <a:uFillTx/>
                <a:latin typeface="Calibri"/>
                <a:ea typeface="Calibri"/>
              </a:rPr>
              <a:t>A limited number of selected urban zones</a:t>
            </a:r>
            <a:endParaRPr lang="en-US" sz="1450" b="0" u="none" strike="noStrike">
              <a:solidFill>
                <a:srgbClr val="000000"/>
              </a:solidFill>
              <a:effectLst/>
              <a:uFillTx/>
              <a:latin typeface="Arial"/>
            </a:endParaRPr>
          </a:p>
        </p:txBody>
      </p:sp>
      <p:sp>
        <p:nvSpPr>
          <p:cNvPr id="166" name="Text 5"/>
          <p:cNvSpPr/>
          <p:nvPr/>
        </p:nvSpPr>
        <p:spPr>
          <a:xfrm>
            <a:off x="1005840" y="3520440"/>
            <a:ext cx="447948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FFFFFF"/>
                </a:solidFill>
                <a:effectLst/>
                <a:uFillTx/>
                <a:latin typeface="Calibri"/>
                <a:ea typeface="Calibri"/>
              </a:rPr>
              <a:t>＋  </a:t>
            </a:r>
            <a:r>
              <a:rPr lang="en-US" sz="1450" b="0" u="none" strike="noStrike">
                <a:solidFill>
                  <a:srgbClr val="FFFFFF"/>
                </a:solidFill>
                <a:effectLst/>
                <a:uFillTx/>
                <a:latin typeface="Calibri"/>
                <a:ea typeface="Calibri"/>
              </a:rPr>
              <a:t>Demand prediction over a manageable forecasting period</a:t>
            </a:r>
            <a:endParaRPr lang="en-US" sz="1450" b="0" u="none" strike="noStrike">
              <a:solidFill>
                <a:srgbClr val="000000"/>
              </a:solidFill>
              <a:effectLst/>
              <a:uFillTx/>
              <a:latin typeface="Arial"/>
            </a:endParaRPr>
          </a:p>
        </p:txBody>
      </p:sp>
      <p:sp>
        <p:nvSpPr>
          <p:cNvPr id="167" name="Text 6"/>
          <p:cNvSpPr/>
          <p:nvPr/>
        </p:nvSpPr>
        <p:spPr>
          <a:xfrm>
            <a:off x="1005840" y="4389120"/>
            <a:ext cx="447948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FFFFFF"/>
                </a:solidFill>
                <a:effectLst/>
                <a:uFillTx/>
                <a:latin typeface="Calibri"/>
                <a:ea typeface="Calibri"/>
              </a:rPr>
              <a:t>＋  </a:t>
            </a:r>
            <a:r>
              <a:rPr lang="en-US" sz="1450" b="0" u="none" strike="noStrike">
                <a:solidFill>
                  <a:srgbClr val="FFFFFF"/>
                </a:solidFill>
                <a:effectLst/>
                <a:uFillTx/>
                <a:latin typeface="Calibri"/>
                <a:ea typeface="Calibri"/>
              </a:rPr>
              <a:t>Planning support — predictions and comparisons for planners</a:t>
            </a:r>
            <a:endParaRPr lang="en-US" sz="1450" b="0" u="none" strike="noStrike">
              <a:solidFill>
                <a:srgbClr val="000000"/>
              </a:solidFill>
              <a:effectLst/>
              <a:uFillTx/>
              <a:latin typeface="Arial"/>
            </a:endParaRPr>
          </a:p>
        </p:txBody>
      </p:sp>
      <p:sp>
        <p:nvSpPr>
          <p:cNvPr id="168" name="Shape 7"/>
          <p:cNvSpPr/>
          <p:nvPr/>
        </p:nvSpPr>
        <p:spPr>
          <a:xfrm>
            <a:off x="6309360" y="1874520"/>
            <a:ext cx="5211000" cy="4068000"/>
          </a:xfrm>
          <a:prstGeom prst="roundRect">
            <a:avLst>
              <a:gd name="adj" fmla="val 2697"/>
            </a:avLst>
          </a:prstGeom>
          <a:solidFill>
            <a:srgbClr val="F2F2F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Text 8"/>
          <p:cNvSpPr/>
          <p:nvPr/>
        </p:nvSpPr>
        <p:spPr>
          <a:xfrm>
            <a:off x="6675120" y="2148840"/>
            <a:ext cx="45709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5B7480"/>
                </a:solidFill>
                <a:effectLst/>
                <a:uFillTx/>
                <a:latin typeface="Calibri"/>
                <a:ea typeface="Calibri"/>
              </a:rPr>
              <a:t>OUT OF SCOPE</a:t>
            </a:r>
            <a:endParaRPr lang="en-US" sz="1300" b="0" u="none" strike="noStrike">
              <a:solidFill>
                <a:srgbClr val="000000"/>
              </a:solidFill>
              <a:effectLst/>
              <a:uFillTx/>
              <a:latin typeface="Arial"/>
            </a:endParaRPr>
          </a:p>
        </p:txBody>
      </p:sp>
      <p:sp>
        <p:nvSpPr>
          <p:cNvPr id="170" name="Text 9"/>
          <p:cNvSpPr/>
          <p:nvPr/>
        </p:nvSpPr>
        <p:spPr>
          <a:xfrm>
            <a:off x="6675120" y="2651760"/>
            <a:ext cx="457092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1A2B33"/>
                </a:solidFill>
                <a:effectLst/>
                <a:uFillTx/>
                <a:latin typeface="Calibri"/>
                <a:ea typeface="Calibri"/>
              </a:rPr>
              <a:t>－  </a:t>
            </a:r>
            <a:r>
              <a:rPr lang="en-US" sz="1450" b="0" u="none" strike="noStrike">
                <a:solidFill>
                  <a:srgbClr val="1A2B33"/>
                </a:solidFill>
                <a:effectLst/>
                <a:uFillTx/>
                <a:latin typeface="Calibri"/>
                <a:ea typeface="Calibri"/>
              </a:rPr>
              <a:t>Nationwide coverage of every urban area</a:t>
            </a:r>
            <a:endParaRPr lang="en-US" sz="1450" b="0" u="none" strike="noStrike">
              <a:solidFill>
                <a:srgbClr val="000000"/>
              </a:solidFill>
              <a:effectLst/>
              <a:uFillTx/>
              <a:latin typeface="Arial"/>
            </a:endParaRPr>
          </a:p>
        </p:txBody>
      </p:sp>
      <p:sp>
        <p:nvSpPr>
          <p:cNvPr id="171" name="Text 10"/>
          <p:cNvSpPr/>
          <p:nvPr/>
        </p:nvSpPr>
        <p:spPr>
          <a:xfrm>
            <a:off x="6675120" y="3520440"/>
            <a:ext cx="457092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1A2B33"/>
                </a:solidFill>
                <a:effectLst/>
                <a:uFillTx/>
                <a:latin typeface="Calibri"/>
                <a:ea typeface="Calibri"/>
              </a:rPr>
              <a:t>－  </a:t>
            </a:r>
            <a:r>
              <a:rPr lang="en-US" sz="1450" b="0" u="none" strike="noStrike">
                <a:solidFill>
                  <a:srgbClr val="1A2B33"/>
                </a:solidFill>
                <a:effectLst/>
                <a:uFillTx/>
                <a:latin typeface="Calibri"/>
                <a:ea typeface="Calibri"/>
              </a:rPr>
              <a:t>Direct control of physical infrastructure</a:t>
            </a:r>
            <a:endParaRPr lang="en-US" sz="1450" b="0" u="none" strike="noStrike">
              <a:solidFill>
                <a:srgbClr val="000000"/>
              </a:solidFill>
              <a:effectLst/>
              <a:uFillTx/>
              <a:latin typeface="Arial"/>
            </a:endParaRPr>
          </a:p>
        </p:txBody>
      </p:sp>
      <p:sp>
        <p:nvSpPr>
          <p:cNvPr id="172" name="Text 11"/>
          <p:cNvSpPr/>
          <p:nvPr/>
        </p:nvSpPr>
        <p:spPr>
          <a:xfrm>
            <a:off x="6675120" y="4389120"/>
            <a:ext cx="4570920" cy="63900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zh-CN" sz="1450" b="0" u="none" strike="noStrike">
                <a:solidFill>
                  <a:srgbClr val="1A2B33"/>
                </a:solidFill>
                <a:effectLst/>
                <a:uFillTx/>
                <a:latin typeface="Calibri"/>
                <a:ea typeface="Calibri"/>
              </a:rPr>
              <a:t>－  </a:t>
            </a:r>
            <a:r>
              <a:rPr lang="en-US" sz="1450" b="0" u="none" strike="noStrike">
                <a:solidFill>
                  <a:srgbClr val="1A2B33"/>
                </a:solidFill>
                <a:effectLst/>
                <a:uFillTx/>
                <a:latin typeface="Calibri"/>
                <a:ea typeface="Calibri"/>
              </a:rPr>
              <a:t>Automated control of pumps, pipelines, or reservoirs</a:t>
            </a:r>
            <a:endParaRPr lang="en-US" sz="1450" b="0" u="none" strike="noStrike">
              <a:solidFill>
                <a:srgbClr val="000000"/>
              </a:solidFill>
              <a:effectLst/>
              <a:uFillTx/>
              <a:latin typeface="Arial"/>
            </a:endParaRPr>
          </a:p>
        </p:txBody>
      </p:sp>
      <p:sp>
        <p:nvSpPr>
          <p:cNvPr id="173" name="Text 12"/>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295C"/>
        </a:solidFill>
      </p:bgPr>
    </p:bg>
    <p:spTree>
      <p:nvGrpSpPr>
        <p:cNvPr id="1" name=""/>
        <p:cNvGrpSpPr/>
        <p:nvPr/>
      </p:nvGrpSpPr>
      <p:grpSpPr>
        <a:xfrm>
          <a:off x="0" y="0"/>
          <a:ext cx="0" cy="0"/>
          <a:chOff x="0" y="0"/>
          <a:chExt cx="0" cy="0"/>
        </a:xfrm>
      </p:grpSpPr>
      <p:sp>
        <p:nvSpPr>
          <p:cNvPr id="174" name="Shape 0"/>
          <p:cNvSpPr/>
          <p:nvPr/>
        </p:nvSpPr>
        <p:spPr>
          <a:xfrm>
            <a:off x="-1371600" y="-1371600"/>
            <a:ext cx="4113720" cy="4113720"/>
          </a:xfrm>
          <a:prstGeom prst="ellipse">
            <a:avLst/>
          </a:prstGeom>
          <a:solidFill>
            <a:srgbClr val="065A82">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5" name="Shape 1"/>
          <p:cNvSpPr/>
          <p:nvPr/>
        </p:nvSpPr>
        <p:spPr>
          <a:xfrm>
            <a:off x="9875520" y="4389120"/>
            <a:ext cx="3290760" cy="3290760"/>
          </a:xfrm>
          <a:prstGeom prst="ellipse">
            <a:avLst/>
          </a:prstGeom>
          <a:solidFill>
            <a:srgbClr val="1C7293">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6" name="Text 2"/>
          <p:cNvSpPr/>
          <p:nvPr/>
        </p:nvSpPr>
        <p:spPr>
          <a:xfrm>
            <a:off x="640080" y="457200"/>
            <a:ext cx="73141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8FC1D9"/>
                </a:solidFill>
                <a:effectLst/>
                <a:uFillTx/>
                <a:latin typeface="Calibri"/>
                <a:ea typeface="Calibri"/>
              </a:rPr>
              <a:t>OPEN RISK</a:t>
            </a:r>
            <a:endParaRPr lang="en-US" sz="1300" b="0" u="none" strike="noStrike">
              <a:solidFill>
                <a:srgbClr val="FFFFFF"/>
              </a:solidFill>
              <a:effectLst/>
              <a:uFillTx/>
              <a:latin typeface="Arial"/>
            </a:endParaRPr>
          </a:p>
        </p:txBody>
      </p:sp>
      <p:sp>
        <p:nvSpPr>
          <p:cNvPr id="177" name="Text 3"/>
          <p:cNvSpPr/>
          <p:nvPr/>
        </p:nvSpPr>
        <p:spPr>
          <a:xfrm>
            <a:off x="640080" y="822960"/>
            <a:ext cx="10514520" cy="730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Cambria"/>
                <a:ea typeface="Cambria"/>
              </a:rPr>
              <a:t>The main tradeoff: data availability</a:t>
            </a:r>
            <a:endParaRPr lang="en-US" sz="2800" b="0" u="none" strike="noStrike">
              <a:solidFill>
                <a:srgbClr val="FFFFFF"/>
              </a:solidFill>
              <a:effectLst/>
              <a:uFillTx/>
              <a:latin typeface="Arial"/>
            </a:endParaRPr>
          </a:p>
        </p:txBody>
      </p:sp>
      <p:sp>
        <p:nvSpPr>
          <p:cNvPr id="178" name="Text 4"/>
          <p:cNvSpPr/>
          <p:nvPr/>
        </p:nvSpPr>
        <p:spPr>
          <a:xfrm>
            <a:off x="640080" y="1783080"/>
            <a:ext cx="7588440" cy="1187640"/>
          </a:xfrm>
          <a:prstGeom prst="rect">
            <a:avLst/>
          </a:prstGeom>
          <a:noFill/>
          <a:ln w="0">
            <a:noFill/>
          </a:ln>
        </p:spPr>
        <p:style>
          <a:lnRef idx="0"/>
          <a:fillRef idx="0"/>
          <a:effectRef idx="0"/>
          <a:fontRef idx="minor"/>
        </p:style>
        <p:txBody>
          <a:bodyPr lIns="0" tIns="0" rIns="0" bIns="0" anchor="ctr">
            <a:noAutofit/>
          </a:bodyPr>
          <a:p>
            <a:pPr defTabSz="914400">
              <a:lnSpc>
                <a:spcPct val="130000"/>
              </a:lnSpc>
              <a:tabLst>
                <a:tab pos="0" algn="l"/>
              </a:tabLst>
            </a:pPr>
            <a:r>
              <a:rPr lang="en-US" sz="1500" b="0" u="none" strike="noStrike">
                <a:solidFill>
                  <a:srgbClr val="E8F1F5"/>
                </a:solidFill>
                <a:effectLst/>
                <a:uFillTx/>
                <a:latin typeface="Calibri"/>
                <a:ea typeface="Calibri"/>
              </a:rPr>
              <a:t>Detailed, zone-level water demand data may be hard to obtain for Rwanda specifically. That's accepted as a real constraint — the project scopes to a small set of zones and validates data availability early, rather than assuming it.</a:t>
            </a:r>
            <a:endParaRPr lang="en-US" sz="1500" b="0" u="none" strike="noStrike">
              <a:solidFill>
                <a:srgbClr val="FFFFFF"/>
              </a:solidFill>
              <a:effectLst/>
              <a:uFillTx/>
              <a:latin typeface="Arial"/>
            </a:endParaRPr>
          </a:p>
        </p:txBody>
      </p:sp>
      <p:sp>
        <p:nvSpPr>
          <p:cNvPr id="179" name="Shape 5"/>
          <p:cNvSpPr/>
          <p:nvPr/>
        </p:nvSpPr>
        <p:spPr>
          <a:xfrm>
            <a:off x="640080" y="3291840"/>
            <a:ext cx="10880280" cy="2650680"/>
          </a:xfrm>
          <a:prstGeom prst="roundRect">
            <a:avLst>
              <a:gd name="adj" fmla="val 4138"/>
            </a:avLst>
          </a:prstGeom>
          <a:solidFill>
            <a:srgbClr val="065A82">
              <a:alpha val="8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Text 6"/>
          <p:cNvSpPr/>
          <p:nvPr/>
        </p:nvSpPr>
        <p:spPr>
          <a:xfrm>
            <a:off x="1005840" y="3566160"/>
            <a:ext cx="548532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50" strike="noStrike">
                <a:solidFill>
                  <a:srgbClr val="8FC1D9"/>
                </a:solidFill>
                <a:effectLst/>
                <a:uFillTx/>
                <a:latin typeface="Calibri"/>
                <a:ea typeface="Calibri"/>
              </a:rPr>
              <a:t>WHY IT'S WORTH THE RISK</a:t>
            </a:r>
            <a:endParaRPr lang="en-US" sz="1300" b="0" u="none" strike="noStrike">
              <a:solidFill>
                <a:srgbClr val="FFFFFF"/>
              </a:solidFill>
              <a:effectLst/>
              <a:uFillTx/>
              <a:latin typeface="Arial"/>
            </a:endParaRPr>
          </a:p>
        </p:txBody>
      </p:sp>
      <p:sp>
        <p:nvSpPr>
          <p:cNvPr id="181" name="Text 7"/>
          <p:cNvSpPr/>
          <p:nvPr/>
        </p:nvSpPr>
        <p:spPr>
          <a:xfrm>
            <a:off x="1005840" y="4023360"/>
            <a:ext cx="9965880" cy="1736280"/>
          </a:xfrm>
          <a:prstGeom prst="rect">
            <a:avLst/>
          </a:prstGeom>
          <a:noFill/>
          <a:ln w="0">
            <a:noFill/>
          </a:ln>
        </p:spPr>
        <p:style>
          <a:lnRef idx="0"/>
          <a:fillRef idx="0"/>
          <a:effectRef idx="0"/>
          <a:fontRef idx="minor"/>
        </p:style>
        <p:txBody>
          <a:bodyPr lIns="0" tIns="0" rIns="0" bIns="0" anchor="ctr">
            <a:noAutofit/>
          </a:bodyPr>
          <a:p>
            <a:pPr defTabSz="914400">
              <a:lnSpc>
                <a:spcPct val="130000"/>
              </a:lnSpc>
              <a:tabLst>
                <a:tab pos="0" algn="l"/>
              </a:tabLst>
            </a:pPr>
            <a:r>
              <a:rPr lang="en-US" sz="1550" b="0" u="none" strike="noStrike">
                <a:solidFill>
                  <a:srgbClr val="FFFFFF"/>
                </a:solidFill>
                <a:effectLst/>
                <a:uFillTx/>
                <a:latin typeface="Calibri"/>
                <a:ea typeface="Calibri"/>
              </a:rPr>
              <a:t>It's a critical resource, not a nice-to-have — better distribution planning has a direct, tangible payoff for real communities, and the project doubles as a clear demonstration of how AI supports infrastructure decisions.</a:t>
            </a:r>
            <a:endParaRPr lang="en-US" sz="1550" b="0" u="none" strike="noStrike">
              <a:solidFill>
                <a:srgbClr val="FFFFFF"/>
              </a:solidFill>
              <a:effectLst/>
              <a:uFillTx/>
              <a:latin typeface="Arial"/>
            </a:endParaRPr>
          </a:p>
        </p:txBody>
      </p:sp>
      <p:sp>
        <p:nvSpPr>
          <p:cNvPr id="182" name="Text 8"/>
          <p:cNvSpPr/>
          <p:nvPr/>
        </p:nvSpPr>
        <p:spPr>
          <a:xfrm>
            <a:off x="11548800" y="6400800"/>
            <a:ext cx="3646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5B7480"/>
                </a:solidFill>
                <a:effectLst/>
                <a:uFillTx/>
                <a:latin typeface="Calibri"/>
                <a:ea typeface="Calibri"/>
              </a:rPr>
              <a:t>10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2026-09-10T20:41:41Z</dcterms:created>
  <dc:creator>PptxGenJS</dc:creator>
  <dc:description/>
  <dc:language>en-US</dc:language>
  <cp:lastModifiedBy/>
  <dcterms:modified xsi:type="dcterms:W3CDTF">2026-09-11T08:37:39Z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